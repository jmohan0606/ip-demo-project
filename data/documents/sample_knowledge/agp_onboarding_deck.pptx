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Advisor Growth Program —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iPerform Practice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AGP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24-month structured growth program</a:t>
            </a:r>
          </a:p>
          <a:p>
            <a:pPr>
              <a:defRPr sz="1800"/>
            </a:pPr>
            <a:r>
              <a:t>Milestones every three months</a:t>
            </a:r>
          </a:p>
          <a:p>
            <a:pPr>
              <a:defRPr sz="1800"/>
            </a:pPr>
            <a:r>
              <a:t>KPIs across revenue, AUM, leads and referrals</a:t>
            </a:r>
          </a:p>
          <a:p>
            <a:pPr>
              <a:defRPr sz="1800"/>
            </a:pPr>
            <a:r>
              <a:t>Coaching tied to measurable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Are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On/off-track risk score, 0-100</a:t>
            </a:r>
          </a:p>
          <a:p>
            <a:pPr>
              <a:defRPr sz="1800"/>
            </a:pPr>
            <a:r>
              <a:t>Milestone attainment vs target</a:t>
            </a:r>
          </a:p>
          <a:p>
            <a:pPr>
              <a:defRPr sz="1800"/>
            </a:pPr>
            <a:r>
              <a:t>KPI on-track ratio</a:t>
            </a:r>
          </a:p>
          <a:p>
            <a:pPr>
              <a:defRPr sz="1800"/>
            </a:pPr>
            <a:r>
              <a:t>CRM execution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 by Year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attainment at or above 95%</a:t>
            </a:r>
          </a:p>
          <a:p>
            <a:pPr>
              <a:defRPr sz="1800"/>
            </a:pPr>
            <a:r>
              <a:t>KPI on-track ratio above 0.75</a:t>
            </a:r>
          </a:p>
          <a:p>
            <a:pPr>
              <a:defRPr sz="1800"/>
            </a:pPr>
            <a:r>
              <a:t>NNM positive in at least three of four quarters</a:t>
            </a:r>
          </a:p>
          <a:p>
            <a:pPr>
              <a:defRPr sz="1800"/>
            </a:pPr>
            <a:r>
              <a:t>Managed-asset share moving toward the agreed mix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Coaching Cadence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milestone review</a:t>
            </a:r>
          </a:p>
          <a:p>
            <a:pPr>
              <a:defRPr sz="1800"/>
            </a:pPr>
            <a:r>
              <a:t>Prioritize the two largest open opportunities</a:t>
            </a:r>
          </a:p>
          <a:p>
            <a:pPr>
              <a:defRPr sz="1800"/>
            </a:pPr>
            <a:r>
              <a:t>Clear overdue follow-ups</a:t>
            </a:r>
          </a:p>
          <a:p>
            <a:pPr>
              <a:defRPr sz="1800"/>
            </a:pPr>
            <a:r>
              <a:t>Document next actions in CRM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