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A78"/>
          </a:solidFill>
          <a:ln w="12700">
            <a:solidFill>
              <a:srgbClr val="0B2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786384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Level Executive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912" y="585216"/>
            <a:ext cx="79552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AI systems. One enterprise platform. Shared intelligence. Secure by design.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23560" y="1325880"/>
            <a:ext cx="0" cy="484632"/>
          </a:xfrm>
          <a:prstGeom prst="line">
            <a:avLst/>
          </a:prstGeom>
          <a:noFill/>
          <a:ln w="13970">
            <a:solidFill>
              <a:srgbClr val="1E63D6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657600" y="3246120"/>
            <a:ext cx="0" cy="301752"/>
          </a:xfrm>
          <a:prstGeom prst="line">
            <a:avLst/>
          </a:prstGeom>
          <a:noFill/>
          <a:ln w="15240">
            <a:solidFill>
              <a:srgbClr val="0B6B3A"/>
            </a:solidFill>
            <a:prstDash val="solid"/>
            <a:headEnd type="triangl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680960" y="3246120"/>
            <a:ext cx="0" cy="301752"/>
          </a:xfrm>
          <a:prstGeom prst="line">
            <a:avLst/>
          </a:prstGeom>
          <a:noFill/>
          <a:ln w="15240">
            <a:solidFill>
              <a:srgbClr val="1E63D6"/>
            </a:solidFill>
            <a:prstDash val="solid"/>
            <a:headEnd type="triangl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623560" y="4434840"/>
            <a:ext cx="0" cy="274320"/>
          </a:xfrm>
          <a:prstGeom prst="line">
            <a:avLst/>
          </a:prstGeom>
          <a:noFill/>
          <a:ln w="15240">
            <a:solidFill>
              <a:srgbClr val="5B2ABF"/>
            </a:solidFill>
            <a:prstDash val="solid"/>
            <a:headEnd type="triangl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623560" y="5577840"/>
            <a:ext cx="0" cy="22860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triangl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11480" y="896112"/>
            <a:ext cx="914400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A7C0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024128"/>
            <a:ext cx="64008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E6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508760" y="932688"/>
            <a:ext cx="41148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44168" y="1115568"/>
            <a:ext cx="749808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</a:t>
            </a:r>
            <a:endParaRPr lang="en-US" sz="720" dirty="0"/>
          </a:p>
          <a:p>
            <a:pPr algn="ctr" indent="0" marL="0">
              <a:buNone/>
            </a:pPr>
            <a:r>
              <a:rPr lang="en-US" sz="7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Advisors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3474720" y="932688"/>
            <a:ext cx="41148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🎧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10128" y="1115568"/>
            <a:ext cx="749808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MDWs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5440680" y="932688"/>
            <a:ext cx="41148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🎧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76088" y="1115568"/>
            <a:ext cx="749808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DDWs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7406640" y="932688"/>
            <a:ext cx="41148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🏢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242048" y="1115568"/>
            <a:ext cx="749808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Office</a:t>
            </a:r>
            <a:endParaRPr lang="en-US" sz="720" dirty="0"/>
          </a:p>
          <a:p>
            <a:pPr algn="ctr" indent="0" marL="0">
              <a:buNone/>
            </a:pPr>
            <a:r>
              <a:rPr lang="en-US" sz="7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502920" y="1783080"/>
            <a:ext cx="4343400" cy="1444752"/>
          </a:xfrm>
          <a:prstGeom prst="roundRect">
            <a:avLst>
              <a:gd name="adj" fmla="val 6329"/>
            </a:avLst>
          </a:prstGeom>
          <a:solidFill>
            <a:srgbClr val="EAF7EF"/>
          </a:solidFill>
          <a:ln w="12700">
            <a:solidFill>
              <a:srgbClr val="86C8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1874520"/>
            <a:ext cx="4069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6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PACE AI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2167128"/>
            <a:ext cx="39776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Proactive insights &amp; recommendations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86384" y="2505456"/>
            <a:ext cx="621792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B6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📄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86384" y="2852928"/>
            <a:ext cx="621792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 &amp;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783080" y="2505456"/>
            <a:ext cx="621792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B6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📈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783080" y="2852928"/>
            <a:ext cx="621792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 &amp;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779776" y="2505456"/>
            <a:ext cx="621792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B6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💡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2779776" y="2852928"/>
            <a:ext cx="621792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 &amp;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767328" y="2505456"/>
            <a:ext cx="621792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B6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👤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3767328" y="2852928"/>
            <a:ext cx="621792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 to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advisor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463040" y="2679192"/>
            <a:ext cx="201168" cy="0"/>
          </a:xfrm>
          <a:prstGeom prst="line">
            <a:avLst/>
          </a:prstGeom>
          <a:noFill/>
          <a:ln w="12700">
            <a:solidFill>
              <a:srgbClr val="0B6B3A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459736" y="2679192"/>
            <a:ext cx="201168" cy="0"/>
          </a:xfrm>
          <a:prstGeom prst="line">
            <a:avLst/>
          </a:prstGeom>
          <a:noFill/>
          <a:ln w="12700">
            <a:solidFill>
              <a:srgbClr val="0B6B3A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456432" y="2679192"/>
            <a:ext cx="201168" cy="0"/>
          </a:xfrm>
          <a:prstGeom prst="line">
            <a:avLst/>
          </a:prstGeom>
          <a:noFill/>
          <a:ln w="12700">
            <a:solidFill>
              <a:srgbClr val="0B6B3A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86384" y="3035808"/>
            <a:ext cx="3767328" cy="228600"/>
          </a:xfrm>
          <a:prstGeom prst="roundRect">
            <a:avLst>
              <a:gd name="adj" fmla="val 56000"/>
            </a:avLst>
          </a:prstGeom>
          <a:solidFill>
            <a:srgbClr val="D9F2E1"/>
          </a:solidFill>
          <a:ln w="10160">
            <a:solidFill>
              <a:srgbClr val="D9F2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1248" y="3054096"/>
            <a:ext cx="3657600" cy="1920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B6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growth • NCF • AUM • Advisor productivity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5074920" y="1783080"/>
            <a:ext cx="4343400" cy="1444752"/>
          </a:xfrm>
          <a:prstGeom prst="roundRect">
            <a:avLst>
              <a:gd name="adj" fmla="val 6329"/>
            </a:avLst>
          </a:prstGeom>
          <a:solidFill>
            <a:srgbClr val="EAF2FF"/>
          </a:solidFill>
          <a:ln w="12700">
            <a:solidFill>
              <a:srgbClr val="A7C0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0" y="1874520"/>
            <a:ext cx="4069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iPerform Coach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257800" y="2167128"/>
            <a:ext cx="39776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Reactive Q&amp;A + coaching guidance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358384" y="2505456"/>
            <a:ext cx="621792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❔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5358384" y="2852928"/>
            <a:ext cx="621792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355080" y="2505456"/>
            <a:ext cx="621792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🔎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6355080" y="2852928"/>
            <a:ext cx="621792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351776" y="2505456"/>
            <a:ext cx="621792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💡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7351776" y="2852928"/>
            <a:ext cx="621792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8339328" y="2505456"/>
            <a:ext cx="621792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👥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8339328" y="2852928"/>
            <a:ext cx="621792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Coach &amp;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035040" y="2679192"/>
            <a:ext cx="201168" cy="0"/>
          </a:xfrm>
          <a:prstGeom prst="line">
            <a:avLst/>
          </a:prstGeom>
          <a:noFill/>
          <a:ln w="12700">
            <a:solidFill>
              <a:srgbClr val="1E63D6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031736" y="2679192"/>
            <a:ext cx="201168" cy="0"/>
          </a:xfrm>
          <a:prstGeom prst="line">
            <a:avLst/>
          </a:prstGeom>
          <a:noFill/>
          <a:ln w="12700">
            <a:solidFill>
              <a:srgbClr val="1E63D6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8028432" y="2679192"/>
            <a:ext cx="201168" cy="0"/>
          </a:xfrm>
          <a:prstGeom prst="line">
            <a:avLst/>
          </a:prstGeom>
          <a:noFill/>
          <a:ln w="12700">
            <a:solidFill>
              <a:srgbClr val="1E63D6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5358384" y="3035808"/>
            <a:ext cx="3767328" cy="228600"/>
          </a:xfrm>
          <a:prstGeom prst="roundRect">
            <a:avLst>
              <a:gd name="adj" fmla="val 56000"/>
            </a:avLst>
          </a:prstGeom>
          <a:solidFill>
            <a:srgbClr val="DDEBFF"/>
          </a:solidFill>
          <a:ln w="10160">
            <a:solidFill>
              <a:srgbClr val="DDEB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13248" y="3054096"/>
            <a:ext cx="3657600" cy="1920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Answers in the moment • Guided actions • Explainability</a:t>
            </a:r>
            <a:endParaRPr lang="en-US" sz="740" dirty="0"/>
          </a:p>
        </p:txBody>
      </p:sp>
      <p:sp>
        <p:nvSpPr>
          <p:cNvPr id="52" name="Shape 50"/>
          <p:cNvSpPr/>
          <p:nvPr/>
        </p:nvSpPr>
        <p:spPr>
          <a:xfrm>
            <a:off x="502920" y="3611880"/>
            <a:ext cx="8915400" cy="868680"/>
          </a:xfrm>
          <a:prstGeom prst="roundRect">
            <a:avLst>
              <a:gd name="adj" fmla="val 9474"/>
            </a:avLst>
          </a:prstGeom>
          <a:solidFill>
            <a:srgbClr val="F3EEFF"/>
          </a:solidFill>
          <a:ln w="12700">
            <a:solidFill>
              <a:srgbClr val="B9A2E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02920" y="3611880"/>
            <a:ext cx="8915400" cy="256032"/>
          </a:xfrm>
          <a:prstGeom prst="rect">
            <a:avLst/>
          </a:prstGeom>
          <a:solidFill>
            <a:srgbClr val="5B2ABF"/>
          </a:solidFill>
          <a:ln w="12700">
            <a:solidFill>
              <a:srgbClr val="5B2AB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5800" y="3648456"/>
            <a:ext cx="85496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ENTERPRISE AI PLATFORM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13232" y="3977640"/>
            <a:ext cx="1243584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10160">
            <a:solidFill>
              <a:srgbClr val="D7C8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8096" y="3995928"/>
            <a:ext cx="113385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SMARTSDK</a:t>
            </a:r>
            <a:endParaRPr lang="en-US" sz="670" dirty="0"/>
          </a:p>
          <a:p>
            <a:pPr algn="ctr" indent="0" marL="0">
              <a:buNone/>
            </a:pPr>
            <a:r>
              <a:rPr lang="en-US" sz="670" b="1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</a:t>
            </a:r>
            <a:endParaRPr lang="en-US" sz="670" dirty="0"/>
          </a:p>
        </p:txBody>
      </p:sp>
      <p:sp>
        <p:nvSpPr>
          <p:cNvPr id="57" name="Shape 55"/>
          <p:cNvSpPr/>
          <p:nvPr/>
        </p:nvSpPr>
        <p:spPr>
          <a:xfrm>
            <a:off x="2121408" y="3977640"/>
            <a:ext cx="1243584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10160">
            <a:solidFill>
              <a:srgbClr val="D7C8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176272" y="3995928"/>
            <a:ext cx="113385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670" dirty="0"/>
          </a:p>
          <a:p>
            <a:pPr algn="ctr" indent="0" marL="0">
              <a:buNone/>
            </a:pPr>
            <a:r>
              <a:rPr lang="en-US" sz="670" b="1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</a:t>
            </a:r>
            <a:endParaRPr lang="en-US" sz="670" dirty="0"/>
          </a:p>
        </p:txBody>
      </p:sp>
      <p:sp>
        <p:nvSpPr>
          <p:cNvPr id="59" name="Shape 57"/>
          <p:cNvSpPr/>
          <p:nvPr/>
        </p:nvSpPr>
        <p:spPr>
          <a:xfrm>
            <a:off x="3529584" y="3977640"/>
            <a:ext cx="1243584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10160">
            <a:solidFill>
              <a:srgbClr val="D7C8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584448" y="3995928"/>
            <a:ext cx="113385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KG +</a:t>
            </a:r>
            <a:endParaRPr lang="en-US" sz="670" dirty="0"/>
          </a:p>
          <a:p>
            <a:pPr algn="ctr" indent="0" marL="0">
              <a:buNone/>
            </a:pPr>
            <a:r>
              <a:rPr lang="en-US" sz="670" b="1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Graph</a:t>
            </a:r>
            <a:endParaRPr lang="en-US" sz="670" dirty="0"/>
          </a:p>
        </p:txBody>
      </p:sp>
      <p:sp>
        <p:nvSpPr>
          <p:cNvPr id="61" name="Shape 59"/>
          <p:cNvSpPr/>
          <p:nvPr/>
        </p:nvSpPr>
        <p:spPr>
          <a:xfrm>
            <a:off x="4937760" y="3977640"/>
            <a:ext cx="1243584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10160">
            <a:solidFill>
              <a:srgbClr val="D7C8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92624" y="3995928"/>
            <a:ext cx="113385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670" dirty="0"/>
          </a:p>
          <a:p>
            <a:pPr algn="ctr" indent="0" marL="0">
              <a:buNone/>
            </a:pPr>
            <a:r>
              <a:rPr lang="en-US" sz="670" b="1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 QA</a:t>
            </a:r>
            <a:endParaRPr lang="en-US" sz="670" dirty="0"/>
          </a:p>
        </p:txBody>
      </p:sp>
      <p:sp>
        <p:nvSpPr>
          <p:cNvPr id="63" name="Shape 61"/>
          <p:cNvSpPr/>
          <p:nvPr/>
        </p:nvSpPr>
        <p:spPr>
          <a:xfrm>
            <a:off x="6345936" y="3977640"/>
            <a:ext cx="1243584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10160">
            <a:solidFill>
              <a:srgbClr val="D7C8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00800" y="3995928"/>
            <a:ext cx="113385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&amp;</a:t>
            </a:r>
            <a:endParaRPr lang="en-US" sz="670" dirty="0"/>
          </a:p>
          <a:p>
            <a:pPr algn="ctr" indent="0" marL="0">
              <a:buNone/>
            </a:pPr>
            <a:r>
              <a:rPr lang="en-US" sz="670" b="1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</a:t>
            </a:r>
            <a:endParaRPr lang="en-US" sz="670" dirty="0"/>
          </a:p>
        </p:txBody>
      </p:sp>
      <p:sp>
        <p:nvSpPr>
          <p:cNvPr id="65" name="Shape 63"/>
          <p:cNvSpPr/>
          <p:nvPr/>
        </p:nvSpPr>
        <p:spPr>
          <a:xfrm>
            <a:off x="7754112" y="3977640"/>
            <a:ext cx="1243584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10160">
            <a:solidFill>
              <a:srgbClr val="D7C8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808976" y="3995928"/>
            <a:ext cx="113385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Observability</a:t>
            </a:r>
            <a:endParaRPr lang="en-US" sz="670" dirty="0"/>
          </a:p>
          <a:p>
            <a:pPr algn="ctr" indent="0" marL="0">
              <a:buNone/>
            </a:pPr>
            <a:r>
              <a:rPr lang="en-US" sz="670" b="1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 Monitoring</a:t>
            </a:r>
            <a:endParaRPr lang="en-US" sz="670" dirty="0"/>
          </a:p>
        </p:txBody>
      </p:sp>
      <p:sp>
        <p:nvSpPr>
          <p:cNvPr id="67" name="Shape 65"/>
          <p:cNvSpPr/>
          <p:nvPr/>
        </p:nvSpPr>
        <p:spPr>
          <a:xfrm>
            <a:off x="502920" y="4754880"/>
            <a:ext cx="89154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CD5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31520" y="4828032"/>
            <a:ext cx="15544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B2A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LAYER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731520" y="5047488"/>
            <a:ext cx="34747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Knowledge Graph + Context Graph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4224528" y="5029200"/>
            <a:ext cx="48006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Entities • relationships • time • events • context • memory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02920" y="5806440"/>
            <a:ext cx="8915400" cy="530352"/>
          </a:xfrm>
          <a:prstGeom prst="roundRect">
            <a:avLst>
              <a:gd name="adj" fmla="val 15517"/>
            </a:avLst>
          </a:prstGeom>
          <a:solidFill>
            <a:srgbClr val="F5F8FF"/>
          </a:solidFill>
          <a:ln w="12700">
            <a:solidFill>
              <a:srgbClr val="C7D8F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31520" y="5897880"/>
            <a:ext cx="19202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1E6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ACCESS &amp; SOURCES</a:t>
            </a:r>
            <a:endParaRPr lang="en-US" sz="730" dirty="0"/>
          </a:p>
        </p:txBody>
      </p:sp>
      <p:sp>
        <p:nvSpPr>
          <p:cNvPr id="73" name="Text 71"/>
          <p:cNvSpPr/>
          <p:nvPr/>
        </p:nvSpPr>
        <p:spPr>
          <a:xfrm>
            <a:off x="1965960" y="5870448"/>
            <a:ext cx="69951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/ API access to iPerformDB, FMAT, operational data and knowledge hub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9802368" y="896112"/>
            <a:ext cx="1975104" cy="54406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A7C0F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9802368" y="896112"/>
            <a:ext cx="1975104" cy="283464"/>
          </a:xfrm>
          <a:prstGeom prst="rect">
            <a:avLst/>
          </a:prstGeom>
          <a:solidFill>
            <a:srgbClr val="0B2A78"/>
          </a:solidFill>
          <a:ln w="12700">
            <a:solidFill>
              <a:srgbClr val="0B2A7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921240" y="950976"/>
            <a:ext cx="17373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OUTCOMES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10012680" y="1417320"/>
            <a:ext cx="292608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0B6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📈</a:t>
            </a:r>
            <a:endParaRPr lang="en-US" sz="1300" dirty="0"/>
          </a:p>
        </p:txBody>
      </p:sp>
      <p:sp>
        <p:nvSpPr>
          <p:cNvPr id="78" name="Text 76"/>
          <p:cNvSpPr/>
          <p:nvPr/>
        </p:nvSpPr>
        <p:spPr>
          <a:xfrm>
            <a:off x="10369296" y="1435608"/>
            <a:ext cx="11430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Increase Revenue</a:t>
            </a:r>
            <a:endParaRPr lang="en-US" sz="820" dirty="0"/>
          </a:p>
        </p:txBody>
      </p:sp>
      <p:sp>
        <p:nvSpPr>
          <p:cNvPr id="79" name="Text 77"/>
          <p:cNvSpPr/>
          <p:nvPr/>
        </p:nvSpPr>
        <p:spPr>
          <a:xfrm>
            <a:off x="10012680" y="1975104"/>
            <a:ext cx="292608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0B6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💰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10369296" y="1993392"/>
            <a:ext cx="11430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Increase NCF</a:t>
            </a:r>
            <a:endParaRPr lang="en-US" sz="820" dirty="0"/>
          </a:p>
        </p:txBody>
      </p:sp>
      <p:sp>
        <p:nvSpPr>
          <p:cNvPr id="81" name="Text 79"/>
          <p:cNvSpPr/>
          <p:nvPr/>
        </p:nvSpPr>
        <p:spPr>
          <a:xfrm>
            <a:off x="10012680" y="2532888"/>
            <a:ext cx="292608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0B6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🏦</a:t>
            </a:r>
            <a:endParaRPr lang="en-US" sz="1300" dirty="0"/>
          </a:p>
        </p:txBody>
      </p:sp>
      <p:sp>
        <p:nvSpPr>
          <p:cNvPr id="82" name="Text 80"/>
          <p:cNvSpPr/>
          <p:nvPr/>
        </p:nvSpPr>
        <p:spPr>
          <a:xfrm>
            <a:off x="10369296" y="2551176"/>
            <a:ext cx="11430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Increase AUM</a:t>
            </a:r>
            <a:endParaRPr lang="en-US" sz="820" dirty="0"/>
          </a:p>
        </p:txBody>
      </p:sp>
      <p:sp>
        <p:nvSpPr>
          <p:cNvPr id="83" name="Text 81"/>
          <p:cNvSpPr/>
          <p:nvPr/>
        </p:nvSpPr>
        <p:spPr>
          <a:xfrm>
            <a:off x="10012680" y="3090672"/>
            <a:ext cx="292608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0B6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🎯</a:t>
            </a:r>
            <a:endParaRPr lang="en-US" sz="1300" dirty="0"/>
          </a:p>
        </p:txBody>
      </p:sp>
      <p:sp>
        <p:nvSpPr>
          <p:cNvPr id="84" name="Text 82"/>
          <p:cNvSpPr/>
          <p:nvPr/>
        </p:nvSpPr>
        <p:spPr>
          <a:xfrm>
            <a:off x="10369296" y="3108960"/>
            <a:ext cx="11430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Goal Attainment</a:t>
            </a:r>
            <a:endParaRPr lang="en-US" sz="820" dirty="0"/>
          </a:p>
        </p:txBody>
      </p:sp>
      <p:sp>
        <p:nvSpPr>
          <p:cNvPr id="85" name="Text 83"/>
          <p:cNvSpPr/>
          <p:nvPr/>
        </p:nvSpPr>
        <p:spPr>
          <a:xfrm>
            <a:off x="10012680" y="3648456"/>
            <a:ext cx="292608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0B6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⚡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10369296" y="3666744"/>
            <a:ext cx="11430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Increase Advisor Productivity</a:t>
            </a:r>
            <a:endParaRPr lang="en-US" sz="820" dirty="0"/>
          </a:p>
        </p:txBody>
      </p:sp>
      <p:sp>
        <p:nvSpPr>
          <p:cNvPr id="87" name="Shape 85"/>
          <p:cNvSpPr/>
          <p:nvPr/>
        </p:nvSpPr>
        <p:spPr>
          <a:xfrm>
            <a:off x="10012680" y="4526280"/>
            <a:ext cx="1554480" cy="1207008"/>
          </a:xfrm>
          <a:prstGeom prst="roundRect">
            <a:avLst>
              <a:gd name="adj" fmla="val 6061"/>
            </a:avLst>
          </a:prstGeom>
          <a:solidFill>
            <a:srgbClr val="FFF0E8"/>
          </a:solidFill>
          <a:ln w="12700">
            <a:solidFill>
              <a:srgbClr val="F2B8A2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0131552" y="4663440"/>
            <a:ext cx="1298448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95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by design</a:t>
            </a:r>
            <a:endParaRPr lang="en-US" sz="920" dirty="0"/>
          </a:p>
        </p:txBody>
      </p:sp>
      <p:sp>
        <p:nvSpPr>
          <p:cNvPr id="89" name="Text 87"/>
          <p:cNvSpPr/>
          <p:nvPr/>
        </p:nvSpPr>
        <p:spPr>
          <a:xfrm>
            <a:off x="10113264" y="4919472"/>
            <a:ext cx="1353312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security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privacy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&amp; output safety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control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9985248" y="5870448"/>
            <a:ext cx="1572768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B6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strategy: route each function to the right model/tool</a:t>
            </a:r>
            <a:endParaRPr lang="en-US" sz="740" dirty="0"/>
          </a:p>
        </p:txBody>
      </p:sp>
      <p:sp>
        <p:nvSpPr>
          <p:cNvPr id="91" name="Text 89"/>
          <p:cNvSpPr/>
          <p:nvPr/>
        </p:nvSpPr>
        <p:spPr>
          <a:xfrm>
            <a:off x="411480" y="6547104"/>
            <a:ext cx="6217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executive architecture summary • Built from uploaded high-level poster</a:t>
            </a:r>
            <a:endParaRPr lang="en-US" sz="650" dirty="0"/>
          </a:p>
        </p:txBody>
      </p:sp>
      <p:sp>
        <p:nvSpPr>
          <p:cNvPr id="92" name="Text 90"/>
          <p:cNvSpPr/>
          <p:nvPr/>
        </p:nvSpPr>
        <p:spPr>
          <a:xfrm>
            <a:off x="6766560" y="6510528"/>
            <a:ext cx="48463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2A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Platform. Two AI Experiences. Shared Intelligence.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 Level Executive Architecture</dc:title>
  <dc:subject>Concise executive architecture</dc:subject>
  <dc:creator>OpenAI</dc:creator>
  <cp:lastModifiedBy>OpenAI</cp:lastModifiedBy>
  <cp:revision>1</cp:revision>
  <dcterms:created xsi:type="dcterms:W3CDTF">2026-07-16T18:44:39Z</dcterms:created>
  <dcterms:modified xsi:type="dcterms:W3CDTF">2026-07-16T18:44:39Z</dcterms:modified>
</cp:coreProperties>
</file>