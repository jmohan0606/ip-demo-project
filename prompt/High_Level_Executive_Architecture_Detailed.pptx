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78"/>
          </a:solidFill>
          <a:ln w="12700">
            <a:solidFill>
              <a:srgbClr val="0B2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56692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Level Executive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7040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Concise detailed view: AI experiences, shared platform, context graph, data access, governance and outcomes.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431536" y="1115568"/>
            <a:ext cx="0" cy="219456"/>
          </a:xfrm>
          <a:prstGeom prst="line">
            <a:avLst/>
          </a:prstGeom>
          <a:noFill/>
          <a:ln w="12700">
            <a:solidFill>
              <a:srgbClr val="1E63D6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072384" y="2615184"/>
            <a:ext cx="0" cy="283464"/>
          </a:xfrm>
          <a:prstGeom prst="line">
            <a:avLst/>
          </a:prstGeom>
          <a:noFill/>
          <a:ln w="12700">
            <a:solidFill>
              <a:srgbClr val="0B6B3A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14032" y="2615184"/>
            <a:ext cx="0" cy="283464"/>
          </a:xfrm>
          <a:prstGeom prst="line">
            <a:avLst/>
          </a:prstGeom>
          <a:noFill/>
          <a:ln w="12700">
            <a:solidFill>
              <a:srgbClr val="1E63D6"/>
            </a:solidFill>
            <a:prstDash val="solid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31536" y="3547872"/>
            <a:ext cx="0" cy="256032"/>
          </a:xfrm>
          <a:prstGeom prst="line">
            <a:avLst/>
          </a:prstGeom>
          <a:noFill/>
          <a:ln w="12700">
            <a:solidFill>
              <a:srgbClr val="5B2ABF"/>
            </a:solidFill>
            <a:prstDash val="solid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31536" y="4407408"/>
            <a:ext cx="0" cy="21945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31536" y="5102352"/>
            <a:ext cx="0" cy="246888"/>
          </a:xfrm>
          <a:prstGeom prst="line">
            <a:avLst/>
          </a:prstGeom>
          <a:noFill/>
          <a:ln w="12700">
            <a:solidFill>
              <a:srgbClr val="1E63D6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" y="758952"/>
            <a:ext cx="8833104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B6CB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886968"/>
            <a:ext cx="5303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630" dirty="0"/>
          </a:p>
        </p:txBody>
      </p:sp>
      <p:sp>
        <p:nvSpPr>
          <p:cNvPr id="13" name="Text 11"/>
          <p:cNvSpPr/>
          <p:nvPr/>
        </p:nvSpPr>
        <p:spPr>
          <a:xfrm>
            <a:off x="1417320" y="804672"/>
            <a:ext cx="3657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969264"/>
            <a:ext cx="10058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Advisors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246120" y="804672"/>
            <a:ext cx="3657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969264"/>
            <a:ext cx="10058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MDWs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074920" y="804672"/>
            <a:ext cx="3657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969264"/>
            <a:ext cx="10058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DDWs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903720" y="804672"/>
            <a:ext cx="3657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969264"/>
            <a:ext cx="10058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Office Teams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92608" y="1353312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EAF7EF"/>
          </a:solidFill>
          <a:ln w="12700">
            <a:solidFill>
              <a:srgbClr val="8FCE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1490472"/>
            <a:ext cx="4069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PACE AI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" y="1755648"/>
            <a:ext cx="3977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Proactive insights &amp; recommendations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31520" y="1993392"/>
            <a:ext cx="65836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2240280"/>
            <a:ext cx="6583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1709928" y="1993392"/>
            <a:ext cx="65836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📊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09928" y="2240280"/>
            <a:ext cx="6583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2688336" y="1993392"/>
            <a:ext cx="65836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88336" y="2240280"/>
            <a:ext cx="6583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3666744" y="1993392"/>
            <a:ext cx="65836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👤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66744" y="2240280"/>
            <a:ext cx="6583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658368" y="2432304"/>
            <a:ext cx="3611880" cy="173736"/>
          </a:xfrm>
          <a:prstGeom prst="roundRect">
            <a:avLst>
              <a:gd name="adj" fmla="val 68421"/>
            </a:avLst>
          </a:prstGeom>
          <a:solidFill>
            <a:srgbClr val="DDF5E5"/>
          </a:solidFill>
          <a:ln w="10160">
            <a:solidFill>
              <a:srgbClr val="DDF5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" y="2441448"/>
            <a:ext cx="3538728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Pushes priority opportunities to advisor dashboards</a:t>
            </a:r>
            <a:endParaRPr lang="en-US" sz="580" dirty="0"/>
          </a:p>
        </p:txBody>
      </p:sp>
      <p:sp>
        <p:nvSpPr>
          <p:cNvPr id="34" name="Shape 32"/>
          <p:cNvSpPr/>
          <p:nvPr/>
        </p:nvSpPr>
        <p:spPr>
          <a:xfrm>
            <a:off x="4800600" y="1353312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EAF2FF"/>
          </a:solidFill>
          <a:ln w="12700">
            <a:solidFill>
              <a:srgbClr val="A7C0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1490472"/>
            <a:ext cx="4069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iPerform Coach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983480" y="1755648"/>
            <a:ext cx="3977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 + coaching in the moment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239512" y="1993392"/>
            <a:ext cx="65836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❔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39512" y="2240280"/>
            <a:ext cx="6583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620" dirty="0"/>
          </a:p>
        </p:txBody>
      </p:sp>
      <p:sp>
        <p:nvSpPr>
          <p:cNvPr id="39" name="Text 37"/>
          <p:cNvSpPr/>
          <p:nvPr/>
        </p:nvSpPr>
        <p:spPr>
          <a:xfrm>
            <a:off x="6217920" y="1993392"/>
            <a:ext cx="65836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🔎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17920" y="2240280"/>
            <a:ext cx="6583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7196328" y="1993392"/>
            <a:ext cx="65836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💡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96328" y="2240280"/>
            <a:ext cx="6583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8174736" y="1993392"/>
            <a:ext cx="65836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4736" y="2240280"/>
            <a:ext cx="6583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5166360" y="2432304"/>
            <a:ext cx="3611880" cy="173736"/>
          </a:xfrm>
          <a:prstGeom prst="roundRect">
            <a:avLst>
              <a:gd name="adj" fmla="val 68421"/>
            </a:avLst>
          </a:prstGeom>
          <a:solidFill>
            <a:srgbClr val="DDEBFF"/>
          </a:solidFill>
          <a:ln w="10160">
            <a:solidFill>
              <a:srgbClr val="DDEB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02936" y="2441448"/>
            <a:ext cx="3538728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questions and explains recommended actions</a:t>
            </a:r>
            <a:endParaRPr lang="en-US" sz="580" dirty="0"/>
          </a:p>
        </p:txBody>
      </p:sp>
      <p:sp>
        <p:nvSpPr>
          <p:cNvPr id="47" name="Shape 45"/>
          <p:cNvSpPr/>
          <p:nvPr/>
        </p:nvSpPr>
        <p:spPr>
          <a:xfrm>
            <a:off x="292608" y="2926080"/>
            <a:ext cx="8833104" cy="603504"/>
          </a:xfrm>
          <a:prstGeom prst="roundRect">
            <a:avLst>
              <a:gd name="adj" fmla="val 12121"/>
            </a:avLst>
          </a:prstGeom>
          <a:solidFill>
            <a:srgbClr val="F3EEFF"/>
          </a:solidFill>
          <a:ln w="12700">
            <a:solidFill>
              <a:srgbClr val="C7B7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2608" y="2926080"/>
            <a:ext cx="8833104" cy="201168"/>
          </a:xfrm>
          <a:prstGeom prst="rect">
            <a:avLst/>
          </a:prstGeom>
          <a:solidFill>
            <a:srgbClr val="5B2ABF"/>
          </a:solidFill>
          <a:ln w="12700">
            <a:solidFill>
              <a:srgbClr val="5B2A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2958084"/>
            <a:ext cx="85039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ENTERPRISE AI PLATFORM</a:t>
            </a:r>
            <a:endParaRPr lang="en-US" sz="710" dirty="0"/>
          </a:p>
        </p:txBody>
      </p:sp>
      <p:sp>
        <p:nvSpPr>
          <p:cNvPr id="50" name="Shape 48"/>
          <p:cNvSpPr/>
          <p:nvPr/>
        </p:nvSpPr>
        <p:spPr>
          <a:xfrm>
            <a:off x="502920" y="3209544"/>
            <a:ext cx="1225296" cy="210312"/>
          </a:xfrm>
          <a:prstGeom prst="roundRect">
            <a:avLst>
              <a:gd name="adj" fmla="val 56522"/>
            </a:avLst>
          </a:prstGeom>
          <a:solidFill>
            <a:srgbClr val="FFFFFF"/>
          </a:solidFill>
          <a:ln w="10160">
            <a:solidFill>
              <a:srgbClr val="D8CD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9496" y="3218688"/>
            <a:ext cx="1152144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SMARTSDK</a:t>
            </a:r>
            <a:endParaRPr lang="en-US" sz="560" dirty="0"/>
          </a:p>
          <a:p>
            <a:pPr algn="ctr" indent="0" marL="0">
              <a:buNone/>
            </a:pPr>
            <a:r>
              <a:rPr lang="en-US" sz="56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560" dirty="0"/>
          </a:p>
        </p:txBody>
      </p:sp>
      <p:sp>
        <p:nvSpPr>
          <p:cNvPr id="52" name="Shape 50"/>
          <p:cNvSpPr/>
          <p:nvPr/>
        </p:nvSpPr>
        <p:spPr>
          <a:xfrm>
            <a:off x="1938528" y="3209544"/>
            <a:ext cx="1225296" cy="210312"/>
          </a:xfrm>
          <a:prstGeom prst="roundRect">
            <a:avLst>
              <a:gd name="adj" fmla="val 56522"/>
            </a:avLst>
          </a:prstGeom>
          <a:solidFill>
            <a:srgbClr val="FFFFFF"/>
          </a:solidFill>
          <a:ln w="10160">
            <a:solidFill>
              <a:srgbClr val="D8CDF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75104" y="3218688"/>
            <a:ext cx="1152144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560" dirty="0"/>
          </a:p>
          <a:p>
            <a:pPr algn="ctr" indent="0" marL="0">
              <a:buNone/>
            </a:pPr>
            <a:r>
              <a:rPr lang="en-US" sz="56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560" dirty="0"/>
          </a:p>
        </p:txBody>
      </p:sp>
      <p:sp>
        <p:nvSpPr>
          <p:cNvPr id="54" name="Shape 52"/>
          <p:cNvSpPr/>
          <p:nvPr/>
        </p:nvSpPr>
        <p:spPr>
          <a:xfrm>
            <a:off x="3374136" y="3209544"/>
            <a:ext cx="1225296" cy="210312"/>
          </a:xfrm>
          <a:prstGeom prst="roundRect">
            <a:avLst>
              <a:gd name="adj" fmla="val 56522"/>
            </a:avLst>
          </a:prstGeom>
          <a:solidFill>
            <a:srgbClr val="FFFFFF"/>
          </a:solidFill>
          <a:ln w="10160">
            <a:solidFill>
              <a:srgbClr val="D8CDF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10712" y="3218688"/>
            <a:ext cx="1152144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KG</a:t>
            </a:r>
            <a:endParaRPr lang="en-US" sz="560" dirty="0"/>
          </a:p>
          <a:p>
            <a:pPr algn="ctr" indent="0" marL="0">
              <a:buNone/>
            </a:pPr>
            <a:r>
              <a:rPr lang="en-US" sz="56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Context</a:t>
            </a:r>
            <a:endParaRPr lang="en-US" sz="560" dirty="0"/>
          </a:p>
        </p:txBody>
      </p:sp>
      <p:sp>
        <p:nvSpPr>
          <p:cNvPr id="56" name="Shape 54"/>
          <p:cNvSpPr/>
          <p:nvPr/>
        </p:nvSpPr>
        <p:spPr>
          <a:xfrm>
            <a:off x="4809744" y="3209544"/>
            <a:ext cx="1225296" cy="210312"/>
          </a:xfrm>
          <a:prstGeom prst="roundRect">
            <a:avLst>
              <a:gd name="adj" fmla="val 56522"/>
            </a:avLst>
          </a:prstGeom>
          <a:solidFill>
            <a:srgbClr val="FFFFFF"/>
          </a:solidFill>
          <a:ln w="10160">
            <a:solidFill>
              <a:srgbClr val="D8CDF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3218688"/>
            <a:ext cx="1152144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 &amp; QA</a:t>
            </a:r>
            <a:endParaRPr lang="en-US" sz="560" dirty="0"/>
          </a:p>
        </p:txBody>
      </p:sp>
      <p:sp>
        <p:nvSpPr>
          <p:cNvPr id="58" name="Shape 56"/>
          <p:cNvSpPr/>
          <p:nvPr/>
        </p:nvSpPr>
        <p:spPr>
          <a:xfrm>
            <a:off x="6245352" y="3209544"/>
            <a:ext cx="1225296" cy="210312"/>
          </a:xfrm>
          <a:prstGeom prst="roundRect">
            <a:avLst>
              <a:gd name="adj" fmla="val 56522"/>
            </a:avLst>
          </a:prstGeom>
          <a:solidFill>
            <a:srgbClr val="FFFFFF"/>
          </a:solidFill>
          <a:ln w="10160">
            <a:solidFill>
              <a:srgbClr val="D8CD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81928" y="3218688"/>
            <a:ext cx="1152144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560" dirty="0"/>
          </a:p>
          <a:p>
            <a:pPr algn="ctr" indent="0" marL="0">
              <a:buNone/>
            </a:pPr>
            <a:r>
              <a:rPr lang="en-US" sz="56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560" dirty="0"/>
          </a:p>
        </p:txBody>
      </p:sp>
      <p:sp>
        <p:nvSpPr>
          <p:cNvPr id="60" name="Shape 58"/>
          <p:cNvSpPr/>
          <p:nvPr/>
        </p:nvSpPr>
        <p:spPr>
          <a:xfrm>
            <a:off x="7680960" y="3209544"/>
            <a:ext cx="1225296" cy="210312"/>
          </a:xfrm>
          <a:prstGeom prst="roundRect">
            <a:avLst>
              <a:gd name="adj" fmla="val 56522"/>
            </a:avLst>
          </a:prstGeom>
          <a:solidFill>
            <a:srgbClr val="FFFFFF"/>
          </a:solidFill>
          <a:ln w="10160">
            <a:solidFill>
              <a:srgbClr val="D8CD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17536" y="3218688"/>
            <a:ext cx="1152144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560" dirty="0"/>
          </a:p>
        </p:txBody>
      </p:sp>
      <p:sp>
        <p:nvSpPr>
          <p:cNvPr id="62" name="Shape 60"/>
          <p:cNvSpPr/>
          <p:nvPr/>
        </p:nvSpPr>
        <p:spPr>
          <a:xfrm>
            <a:off x="292608" y="3803904"/>
            <a:ext cx="8833104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8CD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3867912"/>
            <a:ext cx="14173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5B2A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SERVICE LAYER</a:t>
            </a:r>
            <a:endParaRPr lang="en-US" sz="580" dirty="0"/>
          </a:p>
        </p:txBody>
      </p:sp>
      <p:sp>
        <p:nvSpPr>
          <p:cNvPr id="64" name="Shape 62"/>
          <p:cNvSpPr/>
          <p:nvPr/>
        </p:nvSpPr>
        <p:spPr>
          <a:xfrm>
            <a:off x="658368" y="4041648"/>
            <a:ext cx="987552" cy="164592"/>
          </a:xfrm>
          <a:prstGeom prst="roundRect">
            <a:avLst>
              <a:gd name="adj" fmla="val 72222"/>
            </a:avLst>
          </a:prstGeom>
          <a:solidFill>
            <a:srgbClr val="F5F8FF"/>
          </a:solidFill>
          <a:ln w="10160">
            <a:solidFill>
              <a:srgbClr val="BFD0F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944" y="4050792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540" dirty="0"/>
          </a:p>
        </p:txBody>
      </p:sp>
      <p:sp>
        <p:nvSpPr>
          <p:cNvPr id="66" name="Shape 64"/>
          <p:cNvSpPr/>
          <p:nvPr/>
        </p:nvSpPr>
        <p:spPr>
          <a:xfrm>
            <a:off x="1645920" y="4123944"/>
            <a:ext cx="164592" cy="0"/>
          </a:xfrm>
          <a:prstGeom prst="line">
            <a:avLst/>
          </a:prstGeom>
          <a:noFill/>
          <a:ln w="8255">
            <a:solidFill>
              <a:srgbClr val="5B2ABF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2057400" y="4041648"/>
            <a:ext cx="987552" cy="164592"/>
          </a:xfrm>
          <a:prstGeom prst="roundRect">
            <a:avLst>
              <a:gd name="adj" fmla="val 72222"/>
            </a:avLst>
          </a:prstGeom>
          <a:solidFill>
            <a:srgbClr val="F5F8FF"/>
          </a:solidFill>
          <a:ln w="10160">
            <a:solidFill>
              <a:srgbClr val="BFD0F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93976" y="4050792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endParaRPr lang="en-US" sz="540" dirty="0"/>
          </a:p>
        </p:txBody>
      </p:sp>
      <p:sp>
        <p:nvSpPr>
          <p:cNvPr id="69" name="Shape 67"/>
          <p:cNvSpPr/>
          <p:nvPr/>
        </p:nvSpPr>
        <p:spPr>
          <a:xfrm>
            <a:off x="3044952" y="4123944"/>
            <a:ext cx="164592" cy="0"/>
          </a:xfrm>
          <a:prstGeom prst="line">
            <a:avLst/>
          </a:prstGeom>
          <a:noFill/>
          <a:ln w="8255">
            <a:solidFill>
              <a:srgbClr val="5B2ABF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3456432" y="4041648"/>
            <a:ext cx="987552" cy="164592"/>
          </a:xfrm>
          <a:prstGeom prst="roundRect">
            <a:avLst>
              <a:gd name="adj" fmla="val 72222"/>
            </a:avLst>
          </a:prstGeom>
          <a:solidFill>
            <a:srgbClr val="F5F8FF"/>
          </a:solidFill>
          <a:ln w="10160">
            <a:solidFill>
              <a:srgbClr val="BFD0F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93008" y="4050792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540" dirty="0"/>
          </a:p>
        </p:txBody>
      </p:sp>
      <p:sp>
        <p:nvSpPr>
          <p:cNvPr id="72" name="Shape 70"/>
          <p:cNvSpPr/>
          <p:nvPr/>
        </p:nvSpPr>
        <p:spPr>
          <a:xfrm>
            <a:off x="4443984" y="4123944"/>
            <a:ext cx="164592" cy="0"/>
          </a:xfrm>
          <a:prstGeom prst="line">
            <a:avLst/>
          </a:prstGeom>
          <a:noFill/>
          <a:ln w="8255">
            <a:solidFill>
              <a:srgbClr val="5B2ABF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4855464" y="4041648"/>
            <a:ext cx="987552" cy="164592"/>
          </a:xfrm>
          <a:prstGeom prst="roundRect">
            <a:avLst>
              <a:gd name="adj" fmla="val 72222"/>
            </a:avLst>
          </a:prstGeom>
          <a:solidFill>
            <a:srgbClr val="F5F8FF"/>
          </a:solidFill>
          <a:ln w="10160">
            <a:solidFill>
              <a:srgbClr val="BFD0F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92040" y="4050792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Prune</a:t>
            </a:r>
            <a:endParaRPr lang="en-US" sz="540" dirty="0"/>
          </a:p>
        </p:txBody>
      </p:sp>
      <p:sp>
        <p:nvSpPr>
          <p:cNvPr id="75" name="Shape 73"/>
          <p:cNvSpPr/>
          <p:nvPr/>
        </p:nvSpPr>
        <p:spPr>
          <a:xfrm>
            <a:off x="5843016" y="4123944"/>
            <a:ext cx="164592" cy="0"/>
          </a:xfrm>
          <a:prstGeom prst="line">
            <a:avLst/>
          </a:prstGeom>
          <a:noFill/>
          <a:ln w="8255">
            <a:solidFill>
              <a:srgbClr val="5B2ABF"/>
            </a:solidFill>
            <a:prstDash val="solid"/>
            <a:headEnd type="none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6254496" y="4041648"/>
            <a:ext cx="987552" cy="164592"/>
          </a:xfrm>
          <a:prstGeom prst="roundRect">
            <a:avLst>
              <a:gd name="adj" fmla="val 72222"/>
            </a:avLst>
          </a:prstGeom>
          <a:solidFill>
            <a:srgbClr val="F5F8FF"/>
          </a:solidFill>
          <a:ln w="10160">
            <a:solidFill>
              <a:srgbClr val="BFD0F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91072" y="4050792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</a:t>
            </a:r>
            <a:endParaRPr lang="en-US" sz="540" dirty="0"/>
          </a:p>
        </p:txBody>
      </p:sp>
      <p:sp>
        <p:nvSpPr>
          <p:cNvPr id="78" name="Shape 76"/>
          <p:cNvSpPr/>
          <p:nvPr/>
        </p:nvSpPr>
        <p:spPr>
          <a:xfrm>
            <a:off x="7242048" y="4123944"/>
            <a:ext cx="164592" cy="0"/>
          </a:xfrm>
          <a:prstGeom prst="line">
            <a:avLst/>
          </a:prstGeom>
          <a:noFill/>
          <a:ln w="8255">
            <a:solidFill>
              <a:srgbClr val="5B2ABF"/>
            </a:solidFill>
            <a:prstDash val="solid"/>
            <a:headEnd type="none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7653528" y="4041648"/>
            <a:ext cx="987552" cy="164592"/>
          </a:xfrm>
          <a:prstGeom prst="roundRect">
            <a:avLst>
              <a:gd name="adj" fmla="val 72222"/>
            </a:avLst>
          </a:prstGeom>
          <a:solidFill>
            <a:srgbClr val="F5F8FF"/>
          </a:solidFill>
          <a:ln w="10160">
            <a:solidFill>
              <a:srgbClr val="BFD0F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690104" y="4050792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</a:t>
            </a:r>
            <a:endParaRPr lang="en-US" sz="540" dirty="0"/>
          </a:p>
        </p:txBody>
      </p:sp>
      <p:sp>
        <p:nvSpPr>
          <p:cNvPr id="81" name="Shape 79"/>
          <p:cNvSpPr/>
          <p:nvPr/>
        </p:nvSpPr>
        <p:spPr>
          <a:xfrm>
            <a:off x="292608" y="4626864"/>
            <a:ext cx="8833104" cy="448056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BFD0F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920" y="4700016"/>
            <a:ext cx="1325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5B2A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LAYER</a:t>
            </a:r>
            <a:endParaRPr lang="en-US" sz="580" dirty="0"/>
          </a:p>
        </p:txBody>
      </p:sp>
      <p:sp>
        <p:nvSpPr>
          <p:cNvPr id="83" name="Text 81"/>
          <p:cNvSpPr/>
          <p:nvPr/>
        </p:nvSpPr>
        <p:spPr>
          <a:xfrm>
            <a:off x="1874520" y="4782312"/>
            <a:ext cx="27432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Knowledge Graph + Context Graph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617720" y="4782312"/>
            <a:ext cx="39776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Entities • relationships • time • events • context • memory</a:t>
            </a:r>
            <a:endParaRPr lang="en-US" sz="610" dirty="0"/>
          </a:p>
        </p:txBody>
      </p:sp>
      <p:sp>
        <p:nvSpPr>
          <p:cNvPr id="85" name="Shape 83"/>
          <p:cNvSpPr/>
          <p:nvPr/>
        </p:nvSpPr>
        <p:spPr>
          <a:xfrm>
            <a:off x="292608" y="5358384"/>
            <a:ext cx="8833104" cy="694944"/>
          </a:xfrm>
          <a:prstGeom prst="roundRect">
            <a:avLst>
              <a:gd name="adj" fmla="val 10526"/>
            </a:avLst>
          </a:prstGeom>
          <a:solidFill>
            <a:srgbClr val="F5F8FF"/>
          </a:solidFill>
          <a:ln w="12700">
            <a:solidFill>
              <a:srgbClr val="BFD0F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2920" y="5458968"/>
            <a:ext cx="12344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ACCESS LAYER</a:t>
            </a:r>
            <a:endParaRPr lang="en-US" sz="580" dirty="0"/>
          </a:p>
        </p:txBody>
      </p:sp>
      <p:sp>
        <p:nvSpPr>
          <p:cNvPr id="87" name="Shape 85"/>
          <p:cNvSpPr/>
          <p:nvPr/>
        </p:nvSpPr>
        <p:spPr>
          <a:xfrm>
            <a:off x="676656" y="5650992"/>
            <a:ext cx="1389888" cy="219456"/>
          </a:xfrm>
          <a:prstGeom prst="roundRect">
            <a:avLst>
              <a:gd name="adj" fmla="val 54167"/>
            </a:avLst>
          </a:prstGeom>
          <a:solidFill>
            <a:srgbClr val="FFFFFF"/>
          </a:solidFill>
          <a:ln w="10160">
            <a:solidFill>
              <a:srgbClr val="C7D8F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3232" y="5660136"/>
            <a:ext cx="13167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App Agents</a:t>
            </a:r>
            <a:endParaRPr lang="en-US" sz="550" dirty="0"/>
          </a:p>
        </p:txBody>
      </p:sp>
      <p:sp>
        <p:nvSpPr>
          <p:cNvPr id="89" name="Text 87"/>
          <p:cNvSpPr/>
          <p:nvPr/>
        </p:nvSpPr>
        <p:spPr>
          <a:xfrm>
            <a:off x="722376" y="5897880"/>
            <a:ext cx="129844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Coach, insight, compliance</a:t>
            </a:r>
            <a:endParaRPr lang="en-US" sz="480" dirty="0"/>
          </a:p>
        </p:txBody>
      </p:sp>
      <p:sp>
        <p:nvSpPr>
          <p:cNvPr id="90" name="Shape 88"/>
          <p:cNvSpPr/>
          <p:nvPr/>
        </p:nvSpPr>
        <p:spPr>
          <a:xfrm>
            <a:off x="2322576" y="5650992"/>
            <a:ext cx="1389888" cy="219456"/>
          </a:xfrm>
          <a:prstGeom prst="roundRect">
            <a:avLst>
              <a:gd name="adj" fmla="val 54167"/>
            </a:avLst>
          </a:prstGeom>
          <a:solidFill>
            <a:srgbClr val="FFFFFF"/>
          </a:solidFill>
          <a:ln w="10160">
            <a:solidFill>
              <a:srgbClr val="C7D8F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359152" y="5660136"/>
            <a:ext cx="13167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/ API Gateway</a:t>
            </a:r>
            <a:endParaRPr lang="en-US" sz="550" dirty="0"/>
          </a:p>
        </p:txBody>
      </p:sp>
      <p:sp>
        <p:nvSpPr>
          <p:cNvPr id="92" name="Text 90"/>
          <p:cNvSpPr/>
          <p:nvPr/>
        </p:nvSpPr>
        <p:spPr>
          <a:xfrm>
            <a:off x="2368296" y="5897880"/>
            <a:ext cx="129844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IDAnywhere + RBAC</a:t>
            </a:r>
            <a:endParaRPr lang="en-US" sz="480" dirty="0"/>
          </a:p>
        </p:txBody>
      </p:sp>
      <p:sp>
        <p:nvSpPr>
          <p:cNvPr id="93" name="Shape 91"/>
          <p:cNvSpPr/>
          <p:nvPr/>
        </p:nvSpPr>
        <p:spPr>
          <a:xfrm>
            <a:off x="3968496" y="5650992"/>
            <a:ext cx="1389888" cy="219456"/>
          </a:xfrm>
          <a:prstGeom prst="roundRect">
            <a:avLst>
              <a:gd name="adj" fmla="val 54167"/>
            </a:avLst>
          </a:prstGeom>
          <a:solidFill>
            <a:srgbClr val="FFFFFF"/>
          </a:solidFill>
          <a:ln w="10160">
            <a:solidFill>
              <a:srgbClr val="C7D8F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005072" y="5660136"/>
            <a:ext cx="13167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/ SQL Access</a:t>
            </a:r>
            <a:endParaRPr lang="en-US" sz="550" dirty="0"/>
          </a:p>
        </p:txBody>
      </p:sp>
      <p:sp>
        <p:nvSpPr>
          <p:cNvPr id="95" name="Text 93"/>
          <p:cNvSpPr/>
          <p:nvPr/>
        </p:nvSpPr>
        <p:spPr>
          <a:xfrm>
            <a:off x="4014216" y="5897880"/>
            <a:ext cx="129844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REST, GraphQL, NL2SQL where needed</a:t>
            </a:r>
            <a:endParaRPr lang="en-US" sz="480" dirty="0"/>
          </a:p>
        </p:txBody>
      </p:sp>
      <p:sp>
        <p:nvSpPr>
          <p:cNvPr id="96" name="Shape 94"/>
          <p:cNvSpPr/>
          <p:nvPr/>
        </p:nvSpPr>
        <p:spPr>
          <a:xfrm>
            <a:off x="5614416" y="5650992"/>
            <a:ext cx="1389888" cy="219456"/>
          </a:xfrm>
          <a:prstGeom prst="roundRect">
            <a:avLst>
              <a:gd name="adj" fmla="val 54167"/>
            </a:avLst>
          </a:prstGeom>
          <a:solidFill>
            <a:srgbClr val="FFFFFF"/>
          </a:solidFill>
          <a:ln w="10160">
            <a:solidFill>
              <a:srgbClr val="C7D8F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50992" y="5660136"/>
            <a:ext cx="13167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Databases</a:t>
            </a:r>
            <a:endParaRPr lang="en-US" sz="550" dirty="0"/>
          </a:p>
        </p:txBody>
      </p:sp>
      <p:sp>
        <p:nvSpPr>
          <p:cNvPr id="98" name="Text 96"/>
          <p:cNvSpPr/>
          <p:nvPr/>
        </p:nvSpPr>
        <p:spPr>
          <a:xfrm>
            <a:off x="5660136" y="5897880"/>
            <a:ext cx="129844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iPerformDB • FMAT • other data</a:t>
            </a:r>
            <a:endParaRPr lang="en-US" sz="480" dirty="0"/>
          </a:p>
        </p:txBody>
      </p:sp>
      <p:sp>
        <p:nvSpPr>
          <p:cNvPr id="99" name="Shape 97"/>
          <p:cNvSpPr/>
          <p:nvPr/>
        </p:nvSpPr>
        <p:spPr>
          <a:xfrm>
            <a:off x="7260336" y="5650992"/>
            <a:ext cx="1389888" cy="219456"/>
          </a:xfrm>
          <a:prstGeom prst="roundRect">
            <a:avLst>
              <a:gd name="adj" fmla="val 54167"/>
            </a:avLst>
          </a:prstGeom>
          <a:solidFill>
            <a:srgbClr val="FFFFFF"/>
          </a:solidFill>
          <a:ln w="10160">
            <a:solidFill>
              <a:srgbClr val="C7D8F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296912" y="5660136"/>
            <a:ext cx="13167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Hub</a:t>
            </a:r>
            <a:endParaRPr lang="en-US" sz="550" dirty="0"/>
          </a:p>
        </p:txBody>
      </p:sp>
      <p:sp>
        <p:nvSpPr>
          <p:cNvPr id="101" name="Text 99"/>
          <p:cNvSpPr/>
          <p:nvPr/>
        </p:nvSpPr>
        <p:spPr>
          <a:xfrm>
            <a:off x="7306056" y="5897880"/>
            <a:ext cx="129844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 + external knowledge</a:t>
            </a:r>
            <a:endParaRPr lang="en-US" sz="480" dirty="0"/>
          </a:p>
        </p:txBody>
      </p:sp>
      <p:sp>
        <p:nvSpPr>
          <p:cNvPr id="102" name="Shape 100"/>
          <p:cNvSpPr/>
          <p:nvPr/>
        </p:nvSpPr>
        <p:spPr>
          <a:xfrm>
            <a:off x="9372600" y="758952"/>
            <a:ext cx="2514600" cy="1252728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2700">
            <a:solidFill>
              <a:srgbClr val="C6D4F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372600" y="758952"/>
            <a:ext cx="2514600" cy="201168"/>
          </a:xfrm>
          <a:prstGeom prst="rect">
            <a:avLst/>
          </a:prstGeom>
          <a:solidFill>
            <a:srgbClr val="0B2A78"/>
          </a:solidFill>
          <a:ln w="12700">
            <a:solidFill>
              <a:srgbClr val="0B2A7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454896" y="790956"/>
            <a:ext cx="235000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OUTCOMES</a:t>
            </a:r>
            <a:endParaRPr lang="en-US" sz="610" dirty="0"/>
          </a:p>
        </p:txBody>
      </p:sp>
      <p:sp>
        <p:nvSpPr>
          <p:cNvPr id="105" name="Text 103"/>
          <p:cNvSpPr/>
          <p:nvPr/>
        </p:nvSpPr>
        <p:spPr>
          <a:xfrm>
            <a:off x="9518904" y="1060704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📈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9820656" y="1065276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Revenue</a:t>
            </a:r>
            <a:endParaRPr lang="en-US" sz="535" dirty="0"/>
          </a:p>
        </p:txBody>
      </p:sp>
      <p:sp>
        <p:nvSpPr>
          <p:cNvPr id="107" name="Text 105"/>
          <p:cNvSpPr/>
          <p:nvPr/>
        </p:nvSpPr>
        <p:spPr>
          <a:xfrm>
            <a:off x="9518904" y="1228954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💰</a:t>
            </a:r>
            <a:endParaRPr lang="en-US" sz="650" dirty="0"/>
          </a:p>
        </p:txBody>
      </p:sp>
      <p:sp>
        <p:nvSpPr>
          <p:cNvPr id="108" name="Text 106"/>
          <p:cNvSpPr/>
          <p:nvPr/>
        </p:nvSpPr>
        <p:spPr>
          <a:xfrm>
            <a:off x="9820656" y="1233526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NCF</a:t>
            </a:r>
            <a:endParaRPr lang="en-US" sz="535" dirty="0"/>
          </a:p>
        </p:txBody>
      </p:sp>
      <p:sp>
        <p:nvSpPr>
          <p:cNvPr id="109" name="Text 107"/>
          <p:cNvSpPr/>
          <p:nvPr/>
        </p:nvSpPr>
        <p:spPr>
          <a:xfrm>
            <a:off x="9518904" y="1397203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🏦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9820656" y="1401775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AUM</a:t>
            </a:r>
            <a:endParaRPr lang="en-US" sz="535" dirty="0"/>
          </a:p>
        </p:txBody>
      </p:sp>
      <p:sp>
        <p:nvSpPr>
          <p:cNvPr id="111" name="Text 109"/>
          <p:cNvSpPr/>
          <p:nvPr/>
        </p:nvSpPr>
        <p:spPr>
          <a:xfrm>
            <a:off x="9518904" y="1565453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9820656" y="1570025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Goal Attainment</a:t>
            </a:r>
            <a:endParaRPr lang="en-US" sz="535" dirty="0"/>
          </a:p>
        </p:txBody>
      </p:sp>
      <p:sp>
        <p:nvSpPr>
          <p:cNvPr id="113" name="Text 111"/>
          <p:cNvSpPr/>
          <p:nvPr/>
        </p:nvSpPr>
        <p:spPr>
          <a:xfrm>
            <a:off x="9518904" y="1733702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⚡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9820656" y="1738274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Productivity</a:t>
            </a:r>
            <a:endParaRPr lang="en-US" sz="535" dirty="0"/>
          </a:p>
        </p:txBody>
      </p:sp>
      <p:sp>
        <p:nvSpPr>
          <p:cNvPr id="115" name="Shape 113"/>
          <p:cNvSpPr/>
          <p:nvPr/>
        </p:nvSpPr>
        <p:spPr>
          <a:xfrm>
            <a:off x="9372600" y="2176272"/>
            <a:ext cx="251460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6D4F1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372600" y="2176272"/>
            <a:ext cx="2514600" cy="201168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454896" y="2208276"/>
            <a:ext cx="235000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STRATEGY</a:t>
            </a:r>
            <a:endParaRPr lang="en-US" sz="610" dirty="0"/>
          </a:p>
        </p:txBody>
      </p:sp>
      <p:sp>
        <p:nvSpPr>
          <p:cNvPr id="118" name="Text 116"/>
          <p:cNvSpPr/>
          <p:nvPr/>
        </p:nvSpPr>
        <p:spPr>
          <a:xfrm>
            <a:off x="9518904" y="2478024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💬</a:t>
            </a:r>
            <a:endParaRPr lang="en-US" sz="650" dirty="0"/>
          </a:p>
        </p:txBody>
      </p:sp>
      <p:sp>
        <p:nvSpPr>
          <p:cNvPr id="119" name="Text 117"/>
          <p:cNvSpPr/>
          <p:nvPr/>
        </p:nvSpPr>
        <p:spPr>
          <a:xfrm>
            <a:off x="9820656" y="2482596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 reasoning: Claude Opus</a:t>
            </a:r>
            <a:endParaRPr lang="en-US" sz="535" dirty="0"/>
          </a:p>
        </p:txBody>
      </p:sp>
      <p:sp>
        <p:nvSpPr>
          <p:cNvPr id="120" name="Text 118"/>
          <p:cNvSpPr/>
          <p:nvPr/>
        </p:nvSpPr>
        <p:spPr>
          <a:xfrm>
            <a:off x="9518904" y="2686050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🧠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9820656" y="2690622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PACE reasoning: Claude Sonnet</a:t>
            </a:r>
            <a:endParaRPr lang="en-US" sz="535" dirty="0"/>
          </a:p>
        </p:txBody>
      </p:sp>
      <p:sp>
        <p:nvSpPr>
          <p:cNvPr id="122" name="Text 120"/>
          <p:cNvSpPr/>
          <p:nvPr/>
        </p:nvSpPr>
        <p:spPr>
          <a:xfrm>
            <a:off x="9518904" y="2894076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📄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9820656" y="2898648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Summarization: GPT Mini</a:t>
            </a:r>
            <a:endParaRPr lang="en-US" sz="535" dirty="0"/>
          </a:p>
        </p:txBody>
      </p:sp>
      <p:sp>
        <p:nvSpPr>
          <p:cNvPr id="124" name="Text 122"/>
          <p:cNvSpPr/>
          <p:nvPr/>
        </p:nvSpPr>
        <p:spPr>
          <a:xfrm>
            <a:off x="9518904" y="3102102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🛡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9820656" y="3106674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+ reranking</a:t>
            </a:r>
            <a:endParaRPr lang="en-US" sz="535" dirty="0"/>
          </a:p>
        </p:txBody>
      </p:sp>
      <p:sp>
        <p:nvSpPr>
          <p:cNvPr id="126" name="Shape 124"/>
          <p:cNvSpPr/>
          <p:nvPr/>
        </p:nvSpPr>
        <p:spPr>
          <a:xfrm>
            <a:off x="9372600" y="3584448"/>
            <a:ext cx="251460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C6D4F1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372600" y="3584448"/>
            <a:ext cx="2514600" cy="201168"/>
          </a:xfrm>
          <a:prstGeom prst="rect">
            <a:avLst/>
          </a:prstGeom>
          <a:solidFill>
            <a:srgbClr val="E95515"/>
          </a:solidFill>
          <a:ln w="12700">
            <a:solidFill>
              <a:srgbClr val="E9551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454896" y="3616452"/>
            <a:ext cx="235000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&amp; GOVERNANCE</a:t>
            </a:r>
            <a:endParaRPr lang="en-US" sz="610" dirty="0"/>
          </a:p>
        </p:txBody>
      </p:sp>
      <p:sp>
        <p:nvSpPr>
          <p:cNvPr id="129" name="Text 127"/>
          <p:cNvSpPr/>
          <p:nvPr/>
        </p:nvSpPr>
        <p:spPr>
          <a:xfrm>
            <a:off x="9518904" y="3886200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95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50" dirty="0"/>
          </a:p>
        </p:txBody>
      </p:sp>
      <p:sp>
        <p:nvSpPr>
          <p:cNvPr id="130" name="Text 128"/>
          <p:cNvSpPr/>
          <p:nvPr/>
        </p:nvSpPr>
        <p:spPr>
          <a:xfrm>
            <a:off x="9820656" y="3890772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security &amp; data privacy</a:t>
            </a:r>
            <a:endParaRPr lang="en-US" sz="535" dirty="0"/>
          </a:p>
        </p:txBody>
      </p:sp>
      <p:sp>
        <p:nvSpPr>
          <p:cNvPr id="131" name="Text 129"/>
          <p:cNvSpPr/>
          <p:nvPr/>
        </p:nvSpPr>
        <p:spPr>
          <a:xfrm>
            <a:off x="9518904" y="4070909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95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9820656" y="4075481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and output safety</a:t>
            </a:r>
            <a:endParaRPr lang="en-US" sz="535" dirty="0"/>
          </a:p>
        </p:txBody>
      </p:sp>
      <p:sp>
        <p:nvSpPr>
          <p:cNvPr id="133" name="Text 131"/>
          <p:cNvSpPr/>
          <p:nvPr/>
        </p:nvSpPr>
        <p:spPr>
          <a:xfrm>
            <a:off x="9518904" y="4255618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95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9820656" y="4260190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info protection</a:t>
            </a:r>
            <a:endParaRPr lang="en-US" sz="535" dirty="0"/>
          </a:p>
        </p:txBody>
      </p:sp>
      <p:sp>
        <p:nvSpPr>
          <p:cNvPr id="135" name="Text 133"/>
          <p:cNvSpPr/>
          <p:nvPr/>
        </p:nvSpPr>
        <p:spPr>
          <a:xfrm>
            <a:off x="9518904" y="4440326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95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50" dirty="0"/>
          </a:p>
        </p:txBody>
      </p:sp>
      <p:sp>
        <p:nvSpPr>
          <p:cNvPr id="136" name="Text 134"/>
          <p:cNvSpPr/>
          <p:nvPr/>
        </p:nvSpPr>
        <p:spPr>
          <a:xfrm>
            <a:off x="9820656" y="4444898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 + monitoring</a:t>
            </a:r>
            <a:endParaRPr lang="en-US" sz="535" dirty="0"/>
          </a:p>
        </p:txBody>
      </p:sp>
      <p:sp>
        <p:nvSpPr>
          <p:cNvPr id="137" name="Text 135"/>
          <p:cNvSpPr/>
          <p:nvPr/>
        </p:nvSpPr>
        <p:spPr>
          <a:xfrm>
            <a:off x="9518904" y="4625035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95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50" dirty="0"/>
          </a:p>
        </p:txBody>
      </p:sp>
      <p:sp>
        <p:nvSpPr>
          <p:cNvPr id="138" name="Text 136"/>
          <p:cNvSpPr/>
          <p:nvPr/>
        </p:nvSpPr>
        <p:spPr>
          <a:xfrm>
            <a:off x="9820656" y="4629607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+ incident response</a:t>
            </a:r>
            <a:endParaRPr lang="en-US" sz="535" dirty="0"/>
          </a:p>
        </p:txBody>
      </p:sp>
      <p:sp>
        <p:nvSpPr>
          <p:cNvPr id="139" name="Shape 137"/>
          <p:cNvSpPr/>
          <p:nvPr/>
        </p:nvSpPr>
        <p:spPr>
          <a:xfrm>
            <a:off x="9372600" y="5084064"/>
            <a:ext cx="25146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6D4F1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372600" y="5084064"/>
            <a:ext cx="2514600" cy="201168"/>
          </a:xfrm>
          <a:prstGeom prst="rect">
            <a:avLst/>
          </a:prstGeom>
          <a:solidFill>
            <a:srgbClr val="0B2A78"/>
          </a:solidFill>
          <a:ln w="12700">
            <a:solidFill>
              <a:srgbClr val="0B2A7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9454896" y="5116068"/>
            <a:ext cx="235000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PLATFORM AGENTS</a:t>
            </a:r>
            <a:endParaRPr lang="en-US" sz="610" dirty="0"/>
          </a:p>
        </p:txBody>
      </p:sp>
      <p:sp>
        <p:nvSpPr>
          <p:cNvPr id="142" name="Text 140"/>
          <p:cNvSpPr/>
          <p:nvPr/>
        </p:nvSpPr>
        <p:spPr>
          <a:xfrm>
            <a:off x="9518904" y="5385816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🛡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9820656" y="5390388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Agent</a:t>
            </a:r>
            <a:endParaRPr lang="en-US" sz="535" dirty="0"/>
          </a:p>
        </p:txBody>
      </p:sp>
      <p:sp>
        <p:nvSpPr>
          <p:cNvPr id="144" name="Text 142"/>
          <p:cNvSpPr/>
          <p:nvPr/>
        </p:nvSpPr>
        <p:spPr>
          <a:xfrm>
            <a:off x="9518904" y="5571744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☑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9820656" y="5576316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Agent</a:t>
            </a:r>
            <a:endParaRPr lang="en-US" sz="535" dirty="0"/>
          </a:p>
        </p:txBody>
      </p:sp>
      <p:sp>
        <p:nvSpPr>
          <p:cNvPr id="146" name="Text 144"/>
          <p:cNvSpPr/>
          <p:nvPr/>
        </p:nvSpPr>
        <p:spPr>
          <a:xfrm>
            <a:off x="9518904" y="5757672"/>
            <a:ext cx="20116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2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👁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9820656" y="5762244"/>
            <a:ext cx="18745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3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 Agent</a:t>
            </a:r>
            <a:endParaRPr lang="en-US" sz="535" dirty="0"/>
          </a:p>
        </p:txBody>
      </p:sp>
      <p:sp>
        <p:nvSpPr>
          <p:cNvPr id="148" name="Text 146"/>
          <p:cNvSpPr/>
          <p:nvPr/>
        </p:nvSpPr>
        <p:spPr>
          <a:xfrm>
            <a:off x="411480" y="6547104"/>
            <a:ext cx="6217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executive architecture summary • Built from uploaded high-level poster</a:t>
            </a:r>
            <a:endParaRPr lang="en-US" sz="650" dirty="0"/>
          </a:p>
        </p:txBody>
      </p:sp>
      <p:sp>
        <p:nvSpPr>
          <p:cNvPr id="149" name="Text 147"/>
          <p:cNvSpPr/>
          <p:nvPr/>
        </p:nvSpPr>
        <p:spPr>
          <a:xfrm>
            <a:off x="6766560" y="6510528"/>
            <a:ext cx="48463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2A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Platform. Two AI Experiences. Shared Intelligence.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Level Executive Architecture - Detailed</dc:title>
  <dc:subject>Concise detailed executive architecture</dc:subject>
  <dc:creator>OpenAI</dc:creator>
  <cp:lastModifiedBy>OpenAI</cp:lastModifiedBy>
  <cp:revision>1</cp:revision>
  <dcterms:created xsi:type="dcterms:W3CDTF">2026-07-16T18:46:19Z</dcterms:created>
  <dcterms:modified xsi:type="dcterms:W3CDTF">2026-07-16T18:46:19Z</dcterms:modified>
</cp:coreProperties>
</file>