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601200" cy="11612880"/>
  <p:notesSz cx="1161288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3291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Level Executive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8595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Systems  ·  One Enterprise Platform  ·  Shared Intelligence  ·  Secure by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869680" cy="841248"/>
          </a:xfrm>
          <a:prstGeom prst="roundRect">
            <a:avLst>
              <a:gd name="adj" fmla="val 6522"/>
            </a:avLst>
          </a:prstGeom>
          <a:solidFill>
            <a:srgbClr val="F3F5F8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17904" y="1481328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65" y="1577889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21024" y="1481328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585" y="15778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MDWs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724144" y="1481328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705" y="1577889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DDWs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7827264" y="1481328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825" y="157788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Teams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65760" y="2304288"/>
            <a:ext cx="4343400" cy="1828800"/>
          </a:xfrm>
          <a:prstGeom prst="roundRect">
            <a:avLst>
              <a:gd name="adj" fmla="val 3000"/>
            </a:avLst>
          </a:prstGeom>
          <a:solidFill>
            <a:srgbClr val="E9F2EC"/>
          </a:solidFill>
          <a:ln w="15875">
            <a:solidFill>
              <a:srgbClr val="2C6E4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12064" y="2432304"/>
            <a:ext cx="457200" cy="457200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54203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60704" y="2432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AI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060704" y="27066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 System</a:t>
            </a:r>
            <a:endParaRPr lang="en-US" sz="830" dirty="0"/>
          </a:p>
        </p:txBody>
      </p:sp>
      <p:sp>
        <p:nvSpPr>
          <p:cNvPr id="25" name="Shape 18"/>
          <p:cNvSpPr/>
          <p:nvPr/>
        </p:nvSpPr>
        <p:spPr>
          <a:xfrm>
            <a:off x="837819" y="3035808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12" y="3119201"/>
            <a:ext cx="180685" cy="18068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292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700" dirty="0"/>
          </a:p>
        </p:txBody>
      </p:sp>
      <p:sp>
        <p:nvSpPr>
          <p:cNvPr id="28" name="Shape 20"/>
          <p:cNvSpPr/>
          <p:nvPr/>
        </p:nvSpPr>
        <p:spPr>
          <a:xfrm>
            <a:off x="1855089" y="3035808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82" y="3119201"/>
            <a:ext cx="180685" cy="18068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2019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</a:t>
            </a:r>
            <a:endParaRPr lang="en-US" sz="700" dirty="0"/>
          </a:p>
        </p:txBody>
      </p:sp>
      <p:sp>
        <p:nvSpPr>
          <p:cNvPr id="31" name="Text 22"/>
          <p:cNvSpPr/>
          <p:nvPr/>
        </p:nvSpPr>
        <p:spPr>
          <a:xfrm>
            <a:off x="1437894" y="307238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2872359" y="3035808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752" y="3119201"/>
            <a:ext cx="180685" cy="18068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53746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&amp;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700" dirty="0"/>
          </a:p>
        </p:txBody>
      </p:sp>
      <p:sp>
        <p:nvSpPr>
          <p:cNvPr id="35" name="Text 25"/>
          <p:cNvSpPr/>
          <p:nvPr/>
        </p:nvSpPr>
        <p:spPr>
          <a:xfrm>
            <a:off x="2455164" y="307238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3889629" y="3035808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3022" y="3119201"/>
            <a:ext cx="180685" cy="18068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55473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700" dirty="0"/>
          </a:p>
        </p:txBody>
      </p:sp>
      <p:sp>
        <p:nvSpPr>
          <p:cNvPr id="39" name="Text 28"/>
          <p:cNvSpPr/>
          <p:nvPr/>
        </p:nvSpPr>
        <p:spPr>
          <a:xfrm>
            <a:off x="3472434" y="307238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40" name="Shape 29"/>
          <p:cNvSpPr/>
          <p:nvPr/>
        </p:nvSpPr>
        <p:spPr>
          <a:xfrm>
            <a:off x="502920" y="3822192"/>
            <a:ext cx="4069080" cy="237744"/>
          </a:xfrm>
          <a:prstGeom prst="roundRect">
            <a:avLst>
              <a:gd name="adj" fmla="val 19231"/>
            </a:avLst>
          </a:prstGeom>
          <a:solidFill>
            <a:srgbClr val="20503A"/>
          </a:solidFill>
          <a:ln/>
        </p:spPr>
      </p:sp>
      <p:sp>
        <p:nvSpPr>
          <p:cNvPr id="41" name="Text 30"/>
          <p:cNvSpPr/>
          <p:nvPr/>
        </p:nvSpPr>
        <p:spPr>
          <a:xfrm>
            <a:off x="502920" y="38221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Insights &amp; Recommendations</a:t>
            </a:r>
            <a:endParaRPr lang="en-US" sz="850" dirty="0"/>
          </a:p>
        </p:txBody>
      </p:sp>
      <p:sp>
        <p:nvSpPr>
          <p:cNvPr id="42" name="Shape 31"/>
          <p:cNvSpPr/>
          <p:nvPr/>
        </p:nvSpPr>
        <p:spPr>
          <a:xfrm>
            <a:off x="4892040" y="2304288"/>
            <a:ext cx="4343400" cy="1828800"/>
          </a:xfrm>
          <a:prstGeom prst="roundRect">
            <a:avLst>
              <a:gd name="adj" fmla="val 3000"/>
            </a:avLst>
          </a:prstGeom>
          <a:solidFill>
            <a:srgbClr val="E9EEF7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5038344" y="2432304"/>
            <a:ext cx="457200" cy="457200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8072" y="2542032"/>
            <a:ext cx="237744" cy="23774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586984" y="2432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iPerform Coach</a:t>
            </a:r>
            <a:endParaRPr lang="en-US" sz="1500" dirty="0"/>
          </a:p>
        </p:txBody>
      </p:sp>
      <p:sp>
        <p:nvSpPr>
          <p:cNvPr id="46" name="Text 34"/>
          <p:cNvSpPr/>
          <p:nvPr/>
        </p:nvSpPr>
        <p:spPr>
          <a:xfrm>
            <a:off x="5586984" y="27066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Coaching System</a:t>
            </a:r>
            <a:endParaRPr lang="en-US" sz="830" dirty="0"/>
          </a:p>
        </p:txBody>
      </p:sp>
      <p:sp>
        <p:nvSpPr>
          <p:cNvPr id="47" name="Shape 35"/>
          <p:cNvSpPr/>
          <p:nvPr/>
        </p:nvSpPr>
        <p:spPr>
          <a:xfrm>
            <a:off x="5364099" y="3035808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7492" y="3119201"/>
            <a:ext cx="180685" cy="180685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02920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700" dirty="0"/>
          </a:p>
        </p:txBody>
      </p:sp>
      <p:sp>
        <p:nvSpPr>
          <p:cNvPr id="50" name="Shape 37"/>
          <p:cNvSpPr/>
          <p:nvPr/>
        </p:nvSpPr>
        <p:spPr>
          <a:xfrm>
            <a:off x="6381369" y="3035808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4762" y="3119201"/>
            <a:ext cx="180685" cy="180685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04647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00" dirty="0"/>
          </a:p>
        </p:txBody>
      </p:sp>
      <p:sp>
        <p:nvSpPr>
          <p:cNvPr id="53" name="Text 39"/>
          <p:cNvSpPr/>
          <p:nvPr/>
        </p:nvSpPr>
        <p:spPr>
          <a:xfrm>
            <a:off x="5964174" y="307238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4" name="Shape 40"/>
          <p:cNvSpPr/>
          <p:nvPr/>
        </p:nvSpPr>
        <p:spPr>
          <a:xfrm>
            <a:off x="7398639" y="3035808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2032" y="3119201"/>
            <a:ext cx="180685" cy="180685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06374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00" dirty="0"/>
          </a:p>
        </p:txBody>
      </p:sp>
      <p:sp>
        <p:nvSpPr>
          <p:cNvPr id="57" name="Text 42"/>
          <p:cNvSpPr/>
          <p:nvPr/>
        </p:nvSpPr>
        <p:spPr>
          <a:xfrm>
            <a:off x="6981444" y="307238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58" name="Shape 43"/>
          <p:cNvSpPr/>
          <p:nvPr/>
        </p:nvSpPr>
        <p:spPr>
          <a:xfrm>
            <a:off x="8415909" y="3035808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9302" y="3119201"/>
            <a:ext cx="180685" cy="180685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8081010" y="3419856"/>
            <a:ext cx="10172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&amp;</a:t>
            </a:r>
            <a:endParaRPr lang="en-US" sz="7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700" dirty="0"/>
          </a:p>
        </p:txBody>
      </p:sp>
      <p:sp>
        <p:nvSpPr>
          <p:cNvPr id="61" name="Text 45"/>
          <p:cNvSpPr/>
          <p:nvPr/>
        </p:nvSpPr>
        <p:spPr>
          <a:xfrm>
            <a:off x="7998714" y="307238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62" name="Shape 46"/>
          <p:cNvSpPr/>
          <p:nvPr/>
        </p:nvSpPr>
        <p:spPr>
          <a:xfrm>
            <a:off x="5029200" y="3822192"/>
            <a:ext cx="4069080" cy="237744"/>
          </a:xfrm>
          <a:prstGeom prst="roundRect">
            <a:avLst>
              <a:gd name="adj" fmla="val 19231"/>
            </a:avLst>
          </a:prstGeom>
          <a:solidFill>
            <a:srgbClr val="223F6B"/>
          </a:solidFill>
          <a:ln/>
        </p:spPr>
      </p:sp>
      <p:sp>
        <p:nvSpPr>
          <p:cNvPr id="63" name="Text 47"/>
          <p:cNvSpPr/>
          <p:nvPr/>
        </p:nvSpPr>
        <p:spPr>
          <a:xfrm>
            <a:off x="5029200" y="38221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Q&amp;A + Coaching &amp; Guidance</a:t>
            </a:r>
            <a:endParaRPr lang="en-US" sz="850" dirty="0"/>
          </a:p>
        </p:txBody>
      </p:sp>
      <p:sp>
        <p:nvSpPr>
          <p:cNvPr id="64" name="Shape 48"/>
          <p:cNvSpPr/>
          <p:nvPr/>
        </p:nvSpPr>
        <p:spPr>
          <a:xfrm>
            <a:off x="365760" y="4297680"/>
            <a:ext cx="8869680" cy="329184"/>
          </a:xfrm>
          <a:prstGeom prst="roundRect">
            <a:avLst>
              <a:gd name="adj" fmla="val 13889"/>
            </a:avLst>
          </a:prstGeom>
          <a:solidFill>
            <a:srgbClr val="4B2E83"/>
          </a:solidFill>
          <a:ln/>
        </p:spPr>
      </p:sp>
      <p:sp>
        <p:nvSpPr>
          <p:cNvPr id="65" name="Text 49"/>
          <p:cNvSpPr/>
          <p:nvPr/>
        </p:nvSpPr>
        <p:spPr>
          <a:xfrm>
            <a:off x="365760" y="429768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ENTERPRISE AI PLATFORM</a:t>
            </a:r>
            <a:endParaRPr lang="en-US" sz="1150" dirty="0"/>
          </a:p>
        </p:txBody>
      </p:sp>
      <p:sp>
        <p:nvSpPr>
          <p:cNvPr id="66" name="Shape 50"/>
          <p:cNvSpPr/>
          <p:nvPr/>
        </p:nvSpPr>
        <p:spPr>
          <a:xfrm>
            <a:off x="365760" y="4700016"/>
            <a:ext cx="1402080" cy="1060704"/>
          </a:xfrm>
          <a:prstGeom prst="roundRect">
            <a:avLst>
              <a:gd name="adj" fmla="val 5172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67" name="Shape 51"/>
          <p:cNvSpPr/>
          <p:nvPr/>
        </p:nvSpPr>
        <p:spPr>
          <a:xfrm>
            <a:off x="865632" y="4809744"/>
            <a:ext cx="402336" cy="402336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193" y="4906305"/>
            <a:ext cx="209215" cy="209215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402336" y="5248656"/>
            <a:ext cx="132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SMARTSDK Agent Framework</a:t>
            </a:r>
            <a:endParaRPr lang="en-US" sz="760" dirty="0"/>
          </a:p>
        </p:txBody>
      </p:sp>
      <p:sp>
        <p:nvSpPr>
          <p:cNvPr id="70" name="Text 53"/>
          <p:cNvSpPr/>
          <p:nvPr/>
        </p:nvSpPr>
        <p:spPr>
          <a:xfrm>
            <a:off x="402336" y="5559552"/>
            <a:ext cx="132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standards</a:t>
            </a:r>
            <a:endParaRPr lang="en-US" sz="640" dirty="0"/>
          </a:p>
        </p:txBody>
      </p:sp>
      <p:sp>
        <p:nvSpPr>
          <p:cNvPr id="71" name="Shape 54"/>
          <p:cNvSpPr/>
          <p:nvPr/>
        </p:nvSpPr>
        <p:spPr>
          <a:xfrm>
            <a:off x="1859280" y="4700016"/>
            <a:ext cx="1402080" cy="1060704"/>
          </a:xfrm>
          <a:prstGeom prst="roundRect">
            <a:avLst>
              <a:gd name="adj" fmla="val 5172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72" name="Shape 55"/>
          <p:cNvSpPr/>
          <p:nvPr/>
        </p:nvSpPr>
        <p:spPr>
          <a:xfrm>
            <a:off x="2359152" y="4809744"/>
            <a:ext cx="402336" cy="402336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5713" y="4906305"/>
            <a:ext cx="209215" cy="209215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1895856" y="5248656"/>
            <a:ext cx="132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Service</a:t>
            </a:r>
            <a:endParaRPr lang="en-US" sz="760" dirty="0"/>
          </a:p>
        </p:txBody>
      </p:sp>
      <p:sp>
        <p:nvSpPr>
          <p:cNvPr id="75" name="Text 57"/>
          <p:cNvSpPr/>
          <p:nvPr/>
        </p:nvSpPr>
        <p:spPr>
          <a:xfrm>
            <a:off x="1895856" y="5559552"/>
            <a:ext cx="132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optimization</a:t>
            </a:r>
            <a:endParaRPr lang="en-US" sz="640" dirty="0"/>
          </a:p>
        </p:txBody>
      </p:sp>
      <p:sp>
        <p:nvSpPr>
          <p:cNvPr id="76" name="Shape 58"/>
          <p:cNvSpPr/>
          <p:nvPr/>
        </p:nvSpPr>
        <p:spPr>
          <a:xfrm>
            <a:off x="3352800" y="4700016"/>
            <a:ext cx="1402080" cy="1060704"/>
          </a:xfrm>
          <a:prstGeom prst="roundRect">
            <a:avLst>
              <a:gd name="adj" fmla="val 5172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77" name="Shape 59"/>
          <p:cNvSpPr/>
          <p:nvPr/>
        </p:nvSpPr>
        <p:spPr>
          <a:xfrm>
            <a:off x="3852672" y="4809744"/>
            <a:ext cx="402336" cy="402336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7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49233" y="4906305"/>
            <a:ext cx="209215" cy="209215"/>
          </a:xfrm>
          <a:prstGeom prst="rect">
            <a:avLst/>
          </a:prstGeom>
        </p:spPr>
      </p:pic>
      <p:sp>
        <p:nvSpPr>
          <p:cNvPr id="79" name="Text 60"/>
          <p:cNvSpPr/>
          <p:nvPr/>
        </p:nvSpPr>
        <p:spPr>
          <a:xfrm>
            <a:off x="3389376" y="5248656"/>
            <a:ext cx="132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Graph</a:t>
            </a:r>
            <a:endParaRPr lang="en-US" sz="760" dirty="0"/>
          </a:p>
        </p:txBody>
      </p:sp>
      <p:sp>
        <p:nvSpPr>
          <p:cNvPr id="80" name="Text 61"/>
          <p:cNvSpPr/>
          <p:nvPr/>
        </p:nvSpPr>
        <p:spPr>
          <a:xfrm>
            <a:off x="3389376" y="5559552"/>
            <a:ext cx="132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+ context</a:t>
            </a:r>
            <a:endParaRPr lang="en-US" sz="640" dirty="0"/>
          </a:p>
        </p:txBody>
      </p:sp>
      <p:sp>
        <p:nvSpPr>
          <p:cNvPr id="81" name="Shape 62"/>
          <p:cNvSpPr/>
          <p:nvPr/>
        </p:nvSpPr>
        <p:spPr>
          <a:xfrm>
            <a:off x="4846320" y="4700016"/>
            <a:ext cx="1402080" cy="1060704"/>
          </a:xfrm>
          <a:prstGeom prst="roundRect">
            <a:avLst>
              <a:gd name="adj" fmla="val 5172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82" name="Shape 63"/>
          <p:cNvSpPr/>
          <p:nvPr/>
        </p:nvSpPr>
        <p:spPr>
          <a:xfrm>
            <a:off x="5346192" y="4809744"/>
            <a:ext cx="402336" cy="402336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8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2753" y="4906305"/>
            <a:ext cx="209215" cy="209215"/>
          </a:xfrm>
          <a:prstGeom prst="rect">
            <a:avLst/>
          </a:prstGeom>
        </p:spPr>
      </p:pic>
      <p:sp>
        <p:nvSpPr>
          <p:cNvPr id="84" name="Text 64"/>
          <p:cNvSpPr/>
          <p:nvPr/>
        </p:nvSpPr>
        <p:spPr>
          <a:xfrm>
            <a:off x="4882896" y="5248656"/>
            <a:ext cx="132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QA</a:t>
            </a:r>
            <a:endParaRPr lang="en-US" sz="760" dirty="0"/>
          </a:p>
        </p:txBody>
      </p:sp>
      <p:sp>
        <p:nvSpPr>
          <p:cNvPr id="85" name="Text 65"/>
          <p:cNvSpPr/>
          <p:nvPr/>
        </p:nvSpPr>
        <p:spPr>
          <a:xfrm>
            <a:off x="4882896" y="5559552"/>
            <a:ext cx="132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safety</a:t>
            </a:r>
            <a:endParaRPr lang="en-US" sz="640" dirty="0"/>
          </a:p>
        </p:txBody>
      </p:sp>
      <p:sp>
        <p:nvSpPr>
          <p:cNvPr id="86" name="Shape 66"/>
          <p:cNvSpPr/>
          <p:nvPr/>
        </p:nvSpPr>
        <p:spPr>
          <a:xfrm>
            <a:off x="6339840" y="4700016"/>
            <a:ext cx="1402080" cy="1060704"/>
          </a:xfrm>
          <a:prstGeom prst="roundRect">
            <a:avLst>
              <a:gd name="adj" fmla="val 5172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87" name="Shape 67"/>
          <p:cNvSpPr/>
          <p:nvPr/>
        </p:nvSpPr>
        <p:spPr>
          <a:xfrm>
            <a:off x="6839712" y="4809744"/>
            <a:ext cx="402336" cy="402336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8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6273" y="4906305"/>
            <a:ext cx="209215" cy="209215"/>
          </a:xfrm>
          <a:prstGeom prst="rect">
            <a:avLst/>
          </a:prstGeom>
        </p:spPr>
      </p:pic>
      <p:sp>
        <p:nvSpPr>
          <p:cNvPr id="89" name="Text 68"/>
          <p:cNvSpPr/>
          <p:nvPr/>
        </p:nvSpPr>
        <p:spPr>
          <a:xfrm>
            <a:off x="6376416" y="5248656"/>
            <a:ext cx="132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760" dirty="0"/>
          </a:p>
        </p:txBody>
      </p:sp>
      <p:sp>
        <p:nvSpPr>
          <p:cNvPr id="90" name="Text 69"/>
          <p:cNvSpPr/>
          <p:nvPr/>
        </p:nvSpPr>
        <p:spPr>
          <a:xfrm>
            <a:off x="6376416" y="5559552"/>
            <a:ext cx="132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protections</a:t>
            </a:r>
            <a:endParaRPr lang="en-US" sz="640" dirty="0"/>
          </a:p>
        </p:txBody>
      </p:sp>
      <p:sp>
        <p:nvSpPr>
          <p:cNvPr id="91" name="Shape 70"/>
          <p:cNvSpPr/>
          <p:nvPr/>
        </p:nvSpPr>
        <p:spPr>
          <a:xfrm>
            <a:off x="7833360" y="4700016"/>
            <a:ext cx="1402080" cy="1060704"/>
          </a:xfrm>
          <a:prstGeom prst="roundRect">
            <a:avLst>
              <a:gd name="adj" fmla="val 5172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92" name="Shape 71"/>
          <p:cNvSpPr/>
          <p:nvPr/>
        </p:nvSpPr>
        <p:spPr>
          <a:xfrm>
            <a:off x="8333232" y="4809744"/>
            <a:ext cx="402336" cy="402336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9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29793" y="4906305"/>
            <a:ext cx="209215" cy="209215"/>
          </a:xfrm>
          <a:prstGeom prst="rect">
            <a:avLst/>
          </a:prstGeom>
        </p:spPr>
      </p:pic>
      <p:sp>
        <p:nvSpPr>
          <p:cNvPr id="94" name="Text 72"/>
          <p:cNvSpPr/>
          <p:nvPr/>
        </p:nvSpPr>
        <p:spPr>
          <a:xfrm>
            <a:off x="7869936" y="5248656"/>
            <a:ext cx="132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Monitoring</a:t>
            </a:r>
            <a:endParaRPr lang="en-US" sz="760" dirty="0"/>
          </a:p>
        </p:txBody>
      </p:sp>
      <p:sp>
        <p:nvSpPr>
          <p:cNvPr id="95" name="Text 73"/>
          <p:cNvSpPr/>
          <p:nvPr/>
        </p:nvSpPr>
        <p:spPr>
          <a:xfrm>
            <a:off x="7869936" y="5559552"/>
            <a:ext cx="132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logs · tracing</a:t>
            </a:r>
            <a:endParaRPr lang="en-US" sz="640" dirty="0"/>
          </a:p>
        </p:txBody>
      </p:sp>
      <p:sp>
        <p:nvSpPr>
          <p:cNvPr id="96" name="Shape 74"/>
          <p:cNvSpPr/>
          <p:nvPr/>
        </p:nvSpPr>
        <p:spPr>
          <a:xfrm>
            <a:off x="365760" y="5852160"/>
            <a:ext cx="8869680" cy="438912"/>
          </a:xfrm>
          <a:prstGeom prst="roundRect">
            <a:avLst>
              <a:gd name="adj" fmla="val 12500"/>
            </a:avLst>
          </a:prstGeom>
          <a:solidFill>
            <a:srgbClr val="E4F0EE"/>
          </a:solidFill>
          <a:ln w="9525">
            <a:solidFill>
              <a:srgbClr val="17756B"/>
            </a:solidFill>
            <a:prstDash val="solid"/>
          </a:ln>
        </p:spPr>
      </p:sp>
      <p:sp>
        <p:nvSpPr>
          <p:cNvPr id="97" name="Text 75"/>
          <p:cNvSpPr/>
          <p:nvPr/>
        </p:nvSpPr>
        <p:spPr>
          <a:xfrm>
            <a:off x="502920" y="585216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SERVICE LAYER    </a:t>
            </a:r>
            <a:pPr algn="ctr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›  Filtering  ›  Ranking  ›  Pruning  ›  Compression  ›  Summarization</a:t>
            </a:r>
            <a:endParaRPr lang="en-US" sz="800" dirty="0"/>
          </a:p>
        </p:txBody>
      </p:sp>
      <p:sp>
        <p:nvSpPr>
          <p:cNvPr id="98" name="Shape 76"/>
          <p:cNvSpPr/>
          <p:nvPr/>
        </p:nvSpPr>
        <p:spPr>
          <a:xfrm>
            <a:off x="365760" y="6455664"/>
            <a:ext cx="8869680" cy="786384"/>
          </a:xfrm>
          <a:prstGeom prst="roundRect">
            <a:avLst>
              <a:gd name="adj" fmla="val 6977"/>
            </a:avLst>
          </a:prstGeom>
          <a:solidFill>
            <a:srgbClr val="EEE9F6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99" name="Shape 77"/>
          <p:cNvSpPr/>
          <p:nvPr/>
        </p:nvSpPr>
        <p:spPr>
          <a:xfrm>
            <a:off x="530352" y="6638544"/>
            <a:ext cx="420624" cy="420624"/>
          </a:xfrm>
          <a:prstGeom prst="ellipse">
            <a:avLst/>
          </a:prstGeom>
          <a:solidFill>
            <a:srgbClr val="3B2468"/>
          </a:solidFill>
          <a:ln/>
        </p:spPr>
      </p:sp>
      <p:pic>
        <p:nvPicPr>
          <p:cNvPr id="10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1302" y="6739494"/>
            <a:ext cx="218724" cy="218724"/>
          </a:xfrm>
          <a:prstGeom prst="rect">
            <a:avLst/>
          </a:prstGeom>
        </p:spPr>
      </p:pic>
      <p:sp>
        <p:nvSpPr>
          <p:cNvPr id="101" name="Text 78"/>
          <p:cNvSpPr/>
          <p:nvPr/>
        </p:nvSpPr>
        <p:spPr>
          <a:xfrm>
            <a:off x="1078992" y="6583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Graph + Context Graph</a:t>
            </a:r>
            <a:endParaRPr lang="en-US" sz="1100" dirty="0"/>
          </a:p>
        </p:txBody>
      </p:sp>
      <p:sp>
        <p:nvSpPr>
          <p:cNvPr id="102" name="Text 79"/>
          <p:cNvSpPr/>
          <p:nvPr/>
        </p:nvSpPr>
        <p:spPr>
          <a:xfrm>
            <a:off x="1078992" y="68580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relationships + semantic context</a:t>
            </a:r>
            <a:endParaRPr lang="en-US" sz="830" dirty="0"/>
          </a:p>
        </p:txBody>
      </p:sp>
      <p:sp>
        <p:nvSpPr>
          <p:cNvPr id="103" name="Shape 80"/>
          <p:cNvSpPr/>
          <p:nvPr/>
        </p:nvSpPr>
        <p:spPr>
          <a:xfrm>
            <a:off x="5806440" y="6729984"/>
            <a:ext cx="85587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104" name="Text 81"/>
          <p:cNvSpPr/>
          <p:nvPr/>
        </p:nvSpPr>
        <p:spPr>
          <a:xfrm>
            <a:off x="5806440" y="6729984"/>
            <a:ext cx="855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750" dirty="0"/>
          </a:p>
        </p:txBody>
      </p:sp>
      <p:sp>
        <p:nvSpPr>
          <p:cNvPr id="105" name="Shape 82"/>
          <p:cNvSpPr/>
          <p:nvPr/>
        </p:nvSpPr>
        <p:spPr>
          <a:xfrm>
            <a:off x="6735470" y="6729984"/>
            <a:ext cx="127650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106" name="Text 83"/>
          <p:cNvSpPr/>
          <p:nvPr/>
        </p:nvSpPr>
        <p:spPr>
          <a:xfrm>
            <a:off x="6735470" y="6729984"/>
            <a:ext cx="12765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750" dirty="0"/>
          </a:p>
        </p:txBody>
      </p:sp>
      <p:sp>
        <p:nvSpPr>
          <p:cNvPr id="107" name="Shape 84"/>
          <p:cNvSpPr/>
          <p:nvPr/>
        </p:nvSpPr>
        <p:spPr>
          <a:xfrm>
            <a:off x="8085125" y="6729984"/>
            <a:ext cx="51937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108" name="Text 85"/>
          <p:cNvSpPr/>
          <p:nvPr/>
        </p:nvSpPr>
        <p:spPr>
          <a:xfrm>
            <a:off x="8085125" y="6729984"/>
            <a:ext cx="51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109" name="Shape 86"/>
          <p:cNvSpPr/>
          <p:nvPr/>
        </p:nvSpPr>
        <p:spPr>
          <a:xfrm>
            <a:off x="8677656" y="6729984"/>
            <a:ext cx="68762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110" name="Text 87"/>
          <p:cNvSpPr/>
          <p:nvPr/>
        </p:nvSpPr>
        <p:spPr>
          <a:xfrm>
            <a:off x="8677656" y="6729984"/>
            <a:ext cx="6876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50" dirty="0"/>
          </a:p>
        </p:txBody>
      </p:sp>
      <p:sp>
        <p:nvSpPr>
          <p:cNvPr id="111" name="Shape 88"/>
          <p:cNvSpPr/>
          <p:nvPr/>
        </p:nvSpPr>
        <p:spPr>
          <a:xfrm>
            <a:off x="9438437" y="6729984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112" name="Text 89"/>
          <p:cNvSpPr/>
          <p:nvPr/>
        </p:nvSpPr>
        <p:spPr>
          <a:xfrm>
            <a:off x="9438437" y="6729984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</p:txBody>
      </p:sp>
      <p:sp>
        <p:nvSpPr>
          <p:cNvPr id="113" name="Shape 90"/>
          <p:cNvSpPr/>
          <p:nvPr/>
        </p:nvSpPr>
        <p:spPr>
          <a:xfrm>
            <a:off x="365760" y="7406640"/>
            <a:ext cx="8869680" cy="329184"/>
          </a:xfrm>
          <a:prstGeom prst="roundRect">
            <a:avLst>
              <a:gd name="adj" fmla="val 13889"/>
            </a:avLst>
          </a:prstGeom>
          <a:solidFill>
            <a:srgbClr val="34557A"/>
          </a:solidFill>
          <a:ln/>
        </p:spPr>
      </p:sp>
      <p:sp>
        <p:nvSpPr>
          <p:cNvPr id="114" name="Text 91"/>
          <p:cNvSpPr/>
          <p:nvPr/>
        </p:nvSpPr>
        <p:spPr>
          <a:xfrm>
            <a:off x="365760" y="74066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 (Agents &amp; MCP)</a:t>
            </a:r>
            <a:endParaRPr lang="en-US" sz="1100" dirty="0"/>
          </a:p>
        </p:txBody>
      </p:sp>
      <p:sp>
        <p:nvSpPr>
          <p:cNvPr id="115" name="Shape 92"/>
          <p:cNvSpPr/>
          <p:nvPr/>
        </p:nvSpPr>
        <p:spPr>
          <a:xfrm>
            <a:off x="365760" y="7808976"/>
            <a:ext cx="1402080" cy="1225296"/>
          </a:xfrm>
          <a:prstGeom prst="roundRect">
            <a:avLst>
              <a:gd name="adj" fmla="val 4478"/>
            </a:avLst>
          </a:prstGeom>
          <a:solidFill>
            <a:srgbClr val="E9EEF5"/>
          </a:solidFill>
          <a:ln w="9525">
            <a:solidFill>
              <a:srgbClr val="34557A"/>
            </a:solidFill>
            <a:prstDash val="solid"/>
          </a:ln>
        </p:spPr>
      </p:sp>
      <p:sp>
        <p:nvSpPr>
          <p:cNvPr id="116" name="Shape 93"/>
          <p:cNvSpPr/>
          <p:nvPr/>
        </p:nvSpPr>
        <p:spPr>
          <a:xfrm>
            <a:off x="865632" y="7918704"/>
            <a:ext cx="402336" cy="402336"/>
          </a:xfrm>
          <a:prstGeom prst="ellipse">
            <a:avLst/>
          </a:prstGeom>
          <a:solidFill>
            <a:srgbClr val="34557A"/>
          </a:solidFill>
          <a:ln/>
        </p:spPr>
      </p:sp>
      <p:pic>
        <p:nvPicPr>
          <p:cNvPr id="11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2193" y="8015265"/>
            <a:ext cx="209215" cy="209215"/>
          </a:xfrm>
          <a:prstGeom prst="rect">
            <a:avLst/>
          </a:prstGeom>
        </p:spPr>
      </p:pic>
      <p:sp>
        <p:nvSpPr>
          <p:cNvPr id="118" name="Text 94"/>
          <p:cNvSpPr/>
          <p:nvPr/>
        </p:nvSpPr>
        <p:spPr>
          <a:xfrm>
            <a:off x="402336" y="8357616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Application Agents</a:t>
            </a:r>
            <a:endParaRPr lang="en-US" sz="740" dirty="0"/>
          </a:p>
        </p:txBody>
      </p:sp>
      <p:sp>
        <p:nvSpPr>
          <p:cNvPr id="119" name="Text 95"/>
          <p:cNvSpPr/>
          <p:nvPr/>
        </p:nvSpPr>
        <p:spPr>
          <a:xfrm>
            <a:off x="402336" y="8741664"/>
            <a:ext cx="132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· Insight · Compliance</a:t>
            </a:r>
            <a:endParaRPr lang="en-US" sz="630" dirty="0"/>
          </a:p>
        </p:txBody>
      </p:sp>
      <p:sp>
        <p:nvSpPr>
          <p:cNvPr id="120" name="Shape 96"/>
          <p:cNvSpPr/>
          <p:nvPr/>
        </p:nvSpPr>
        <p:spPr>
          <a:xfrm>
            <a:off x="1859280" y="7808976"/>
            <a:ext cx="1402080" cy="1225296"/>
          </a:xfrm>
          <a:prstGeom prst="roundRect">
            <a:avLst>
              <a:gd name="adj" fmla="val 4478"/>
            </a:avLst>
          </a:prstGeom>
          <a:solidFill>
            <a:srgbClr val="E9EEF5"/>
          </a:solidFill>
          <a:ln w="9525">
            <a:solidFill>
              <a:srgbClr val="34557A"/>
            </a:solidFill>
            <a:prstDash val="solid"/>
          </a:ln>
        </p:spPr>
      </p:sp>
      <p:sp>
        <p:nvSpPr>
          <p:cNvPr id="121" name="Shape 97"/>
          <p:cNvSpPr/>
          <p:nvPr/>
        </p:nvSpPr>
        <p:spPr>
          <a:xfrm>
            <a:off x="2359152" y="7918704"/>
            <a:ext cx="402336" cy="402336"/>
          </a:xfrm>
          <a:prstGeom prst="ellipse">
            <a:avLst/>
          </a:prstGeom>
          <a:solidFill>
            <a:srgbClr val="34557A"/>
          </a:solidFill>
          <a:ln/>
        </p:spPr>
      </p:sp>
      <p:pic>
        <p:nvPicPr>
          <p:cNvPr id="12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55713" y="8015265"/>
            <a:ext cx="209215" cy="209215"/>
          </a:xfrm>
          <a:prstGeom prst="rect">
            <a:avLst/>
          </a:prstGeom>
        </p:spPr>
      </p:pic>
      <p:sp>
        <p:nvSpPr>
          <p:cNvPr id="123" name="Text 98"/>
          <p:cNvSpPr/>
          <p:nvPr/>
        </p:nvSpPr>
        <p:spPr>
          <a:xfrm>
            <a:off x="1895856" y="8357616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740" dirty="0"/>
          </a:p>
        </p:txBody>
      </p:sp>
      <p:sp>
        <p:nvSpPr>
          <p:cNvPr id="124" name="Text 99"/>
          <p:cNvSpPr/>
          <p:nvPr/>
        </p:nvSpPr>
        <p:spPr>
          <a:xfrm>
            <a:off x="1895856" y="8741664"/>
            <a:ext cx="132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IDAnywhere Auth · RBAC</a:t>
            </a:r>
            <a:endParaRPr lang="en-US" sz="630" dirty="0"/>
          </a:p>
        </p:txBody>
      </p:sp>
      <p:sp>
        <p:nvSpPr>
          <p:cNvPr id="125" name="Shape 100"/>
          <p:cNvSpPr/>
          <p:nvPr/>
        </p:nvSpPr>
        <p:spPr>
          <a:xfrm>
            <a:off x="3352800" y="7808976"/>
            <a:ext cx="1402080" cy="1225296"/>
          </a:xfrm>
          <a:prstGeom prst="roundRect">
            <a:avLst>
              <a:gd name="adj" fmla="val 4478"/>
            </a:avLst>
          </a:prstGeom>
          <a:solidFill>
            <a:srgbClr val="E9EEF5"/>
          </a:solidFill>
          <a:ln w="9525">
            <a:solidFill>
              <a:srgbClr val="34557A"/>
            </a:solidFill>
            <a:prstDash val="solid"/>
          </a:ln>
        </p:spPr>
      </p:sp>
      <p:sp>
        <p:nvSpPr>
          <p:cNvPr id="126" name="Shape 101"/>
          <p:cNvSpPr/>
          <p:nvPr/>
        </p:nvSpPr>
        <p:spPr>
          <a:xfrm>
            <a:off x="3852672" y="7918704"/>
            <a:ext cx="402336" cy="402336"/>
          </a:xfrm>
          <a:prstGeom prst="ellipse">
            <a:avLst/>
          </a:prstGeom>
          <a:solidFill>
            <a:srgbClr val="34557A"/>
          </a:solidFill>
          <a:ln/>
        </p:spPr>
      </p:sp>
      <p:pic>
        <p:nvPicPr>
          <p:cNvPr id="12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49233" y="8015265"/>
            <a:ext cx="209215" cy="209215"/>
          </a:xfrm>
          <a:prstGeom prst="rect">
            <a:avLst/>
          </a:prstGeom>
        </p:spPr>
      </p:pic>
      <p:sp>
        <p:nvSpPr>
          <p:cNvPr id="128" name="Text 102"/>
          <p:cNvSpPr/>
          <p:nvPr/>
        </p:nvSpPr>
        <p:spPr>
          <a:xfrm>
            <a:off x="3389376" y="8357616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Agent</a:t>
            </a:r>
            <a:endParaRPr lang="en-US" sz="740" dirty="0"/>
          </a:p>
        </p:txBody>
      </p:sp>
      <p:sp>
        <p:nvSpPr>
          <p:cNvPr id="129" name="Text 103"/>
          <p:cNvSpPr/>
          <p:nvPr/>
        </p:nvSpPr>
        <p:spPr>
          <a:xfrm>
            <a:off x="3389376" y="8741664"/>
            <a:ext cx="132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630" dirty="0"/>
          </a:p>
        </p:txBody>
      </p:sp>
      <p:sp>
        <p:nvSpPr>
          <p:cNvPr id="130" name="Shape 104"/>
          <p:cNvSpPr/>
          <p:nvPr/>
        </p:nvSpPr>
        <p:spPr>
          <a:xfrm>
            <a:off x="4846320" y="7808976"/>
            <a:ext cx="1402080" cy="1225296"/>
          </a:xfrm>
          <a:prstGeom prst="roundRect">
            <a:avLst>
              <a:gd name="adj" fmla="val 4478"/>
            </a:avLst>
          </a:prstGeom>
          <a:solidFill>
            <a:srgbClr val="E9EEF5"/>
          </a:solidFill>
          <a:ln w="9525">
            <a:solidFill>
              <a:srgbClr val="34557A"/>
            </a:solidFill>
            <a:prstDash val="solid"/>
          </a:ln>
        </p:spPr>
      </p:sp>
      <p:sp>
        <p:nvSpPr>
          <p:cNvPr id="131" name="Shape 105"/>
          <p:cNvSpPr/>
          <p:nvPr/>
        </p:nvSpPr>
        <p:spPr>
          <a:xfrm>
            <a:off x="5346192" y="7918704"/>
            <a:ext cx="402336" cy="402336"/>
          </a:xfrm>
          <a:prstGeom prst="ellipse">
            <a:avLst/>
          </a:prstGeom>
          <a:solidFill>
            <a:srgbClr val="34557A"/>
          </a:solidFill>
          <a:ln/>
        </p:spPr>
      </p:sp>
      <p:pic>
        <p:nvPicPr>
          <p:cNvPr id="13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42753" y="8015265"/>
            <a:ext cx="209215" cy="209215"/>
          </a:xfrm>
          <a:prstGeom prst="rect">
            <a:avLst/>
          </a:prstGeom>
        </p:spPr>
      </p:pic>
      <p:sp>
        <p:nvSpPr>
          <p:cNvPr id="133" name="Text 106"/>
          <p:cNvSpPr/>
          <p:nvPr/>
        </p:nvSpPr>
        <p:spPr>
          <a:xfrm>
            <a:off x="4882896" y="8357616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Metadata</a:t>
            </a:r>
            <a:endParaRPr lang="en-US" sz="740" dirty="0"/>
          </a:p>
        </p:txBody>
      </p:sp>
      <p:sp>
        <p:nvSpPr>
          <p:cNvPr id="134" name="Text 107"/>
          <p:cNvSpPr/>
          <p:nvPr/>
        </p:nvSpPr>
        <p:spPr>
          <a:xfrm>
            <a:off x="4882896" y="8741664"/>
            <a:ext cx="132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· columns · relationships</a:t>
            </a:r>
            <a:endParaRPr lang="en-US" sz="630" dirty="0"/>
          </a:p>
        </p:txBody>
      </p:sp>
      <p:sp>
        <p:nvSpPr>
          <p:cNvPr id="135" name="Shape 108"/>
          <p:cNvSpPr/>
          <p:nvPr/>
        </p:nvSpPr>
        <p:spPr>
          <a:xfrm>
            <a:off x="6339840" y="7808976"/>
            <a:ext cx="1402080" cy="1225296"/>
          </a:xfrm>
          <a:prstGeom prst="roundRect">
            <a:avLst>
              <a:gd name="adj" fmla="val 4478"/>
            </a:avLst>
          </a:prstGeom>
          <a:solidFill>
            <a:srgbClr val="E9EEF5"/>
          </a:solidFill>
          <a:ln w="9525">
            <a:solidFill>
              <a:srgbClr val="34557A"/>
            </a:solidFill>
            <a:prstDash val="solid"/>
          </a:ln>
        </p:spPr>
      </p:sp>
      <p:sp>
        <p:nvSpPr>
          <p:cNvPr id="136" name="Shape 109"/>
          <p:cNvSpPr/>
          <p:nvPr/>
        </p:nvSpPr>
        <p:spPr>
          <a:xfrm>
            <a:off x="6839712" y="7918704"/>
            <a:ext cx="402336" cy="402336"/>
          </a:xfrm>
          <a:prstGeom prst="ellipse">
            <a:avLst/>
          </a:prstGeom>
          <a:solidFill>
            <a:srgbClr val="34557A"/>
          </a:solidFill>
          <a:ln/>
        </p:spPr>
      </p:sp>
      <p:pic>
        <p:nvPicPr>
          <p:cNvPr id="13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6273" y="8015265"/>
            <a:ext cx="209215" cy="209215"/>
          </a:xfrm>
          <a:prstGeom prst="rect">
            <a:avLst/>
          </a:prstGeom>
        </p:spPr>
      </p:pic>
      <p:sp>
        <p:nvSpPr>
          <p:cNvPr id="138" name="Text 110"/>
          <p:cNvSpPr/>
          <p:nvPr/>
        </p:nvSpPr>
        <p:spPr>
          <a:xfrm>
            <a:off x="6376416" y="8357616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740" dirty="0"/>
          </a:p>
        </p:txBody>
      </p:sp>
      <p:sp>
        <p:nvSpPr>
          <p:cNvPr id="139" name="Text 111"/>
          <p:cNvSpPr/>
          <p:nvPr/>
        </p:nvSpPr>
        <p:spPr>
          <a:xfrm>
            <a:off x="6376416" y="8741664"/>
            <a:ext cx="132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data domain</a:t>
            </a:r>
            <a:endParaRPr lang="en-US" sz="630" dirty="0"/>
          </a:p>
        </p:txBody>
      </p:sp>
      <p:sp>
        <p:nvSpPr>
          <p:cNvPr id="140" name="Shape 112"/>
          <p:cNvSpPr/>
          <p:nvPr/>
        </p:nvSpPr>
        <p:spPr>
          <a:xfrm>
            <a:off x="7833360" y="7808976"/>
            <a:ext cx="1402080" cy="1225296"/>
          </a:xfrm>
          <a:prstGeom prst="roundRect">
            <a:avLst>
              <a:gd name="adj" fmla="val 4478"/>
            </a:avLst>
          </a:prstGeom>
          <a:solidFill>
            <a:srgbClr val="E9EEF5"/>
          </a:solidFill>
          <a:ln w="9525">
            <a:solidFill>
              <a:srgbClr val="34557A"/>
            </a:solidFill>
            <a:prstDash val="solid"/>
          </a:ln>
        </p:spPr>
      </p:sp>
      <p:sp>
        <p:nvSpPr>
          <p:cNvPr id="141" name="Shape 113"/>
          <p:cNvSpPr/>
          <p:nvPr/>
        </p:nvSpPr>
        <p:spPr>
          <a:xfrm>
            <a:off x="8333232" y="7918704"/>
            <a:ext cx="402336" cy="402336"/>
          </a:xfrm>
          <a:prstGeom prst="ellipse">
            <a:avLst/>
          </a:prstGeom>
          <a:solidFill>
            <a:srgbClr val="34557A"/>
          </a:solidFill>
          <a:ln/>
        </p:spPr>
      </p:sp>
      <p:pic>
        <p:nvPicPr>
          <p:cNvPr id="14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29793" y="8015265"/>
            <a:ext cx="209215" cy="209215"/>
          </a:xfrm>
          <a:prstGeom prst="rect">
            <a:avLst/>
          </a:prstGeom>
        </p:spPr>
      </p:pic>
      <p:sp>
        <p:nvSpPr>
          <p:cNvPr id="143" name="Text 114"/>
          <p:cNvSpPr/>
          <p:nvPr/>
        </p:nvSpPr>
        <p:spPr>
          <a:xfrm>
            <a:off x="7869936" y="8357616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Databases</a:t>
            </a:r>
            <a:endParaRPr lang="en-US" sz="740" dirty="0"/>
          </a:p>
        </p:txBody>
      </p:sp>
      <p:sp>
        <p:nvSpPr>
          <p:cNvPr id="144" name="Text 115"/>
          <p:cNvSpPr/>
          <p:nvPr/>
        </p:nvSpPr>
        <p:spPr>
          <a:xfrm>
            <a:off x="7869936" y="8741664"/>
            <a:ext cx="132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governed access</a:t>
            </a:r>
            <a:endParaRPr lang="en-US" sz="630" dirty="0"/>
          </a:p>
        </p:txBody>
      </p:sp>
      <p:sp>
        <p:nvSpPr>
          <p:cNvPr id="145" name="Shape 116"/>
          <p:cNvSpPr/>
          <p:nvPr/>
        </p:nvSpPr>
        <p:spPr>
          <a:xfrm>
            <a:off x="365760" y="9198864"/>
            <a:ext cx="8869680" cy="310896"/>
          </a:xfrm>
          <a:prstGeom prst="roundRect">
            <a:avLst>
              <a:gd name="adj" fmla="val 14706"/>
            </a:avLst>
          </a:prstGeom>
          <a:solidFill>
            <a:srgbClr val="17756B"/>
          </a:solidFill>
          <a:ln/>
        </p:spPr>
      </p:sp>
      <p:sp>
        <p:nvSpPr>
          <p:cNvPr id="146" name="Text 117"/>
          <p:cNvSpPr/>
          <p:nvPr/>
        </p:nvSpPr>
        <p:spPr>
          <a:xfrm>
            <a:off x="365760" y="919886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147" name="Shape 118"/>
          <p:cNvSpPr/>
          <p:nvPr/>
        </p:nvSpPr>
        <p:spPr>
          <a:xfrm>
            <a:off x="365760" y="9582912"/>
            <a:ext cx="580644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48" name="Text 119"/>
          <p:cNvSpPr/>
          <p:nvPr/>
        </p:nvSpPr>
        <p:spPr>
          <a:xfrm>
            <a:off x="475488" y="9656064"/>
            <a:ext cx="5586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MCP  (Secure, Governed Access)</a:t>
            </a:r>
            <a:endParaRPr lang="en-US" sz="850" dirty="0"/>
          </a:p>
        </p:txBody>
      </p:sp>
      <p:sp>
        <p:nvSpPr>
          <p:cNvPr id="149" name="Shape 120"/>
          <p:cNvSpPr/>
          <p:nvPr/>
        </p:nvSpPr>
        <p:spPr>
          <a:xfrm>
            <a:off x="475488" y="9893808"/>
            <a:ext cx="18135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17756B"/>
            </a:solidFill>
            <a:prstDash val="solid"/>
          </a:ln>
        </p:spPr>
      </p:sp>
      <p:sp>
        <p:nvSpPr>
          <p:cNvPr id="150" name="Shape 121"/>
          <p:cNvSpPr/>
          <p:nvPr/>
        </p:nvSpPr>
        <p:spPr>
          <a:xfrm>
            <a:off x="1208532" y="9985248"/>
            <a:ext cx="347472" cy="347472"/>
          </a:xfrm>
          <a:prstGeom prst="ellipse">
            <a:avLst/>
          </a:prstGeom>
          <a:solidFill>
            <a:srgbClr val="17756B"/>
          </a:solidFill>
          <a:ln/>
        </p:spPr>
      </p:sp>
      <p:pic>
        <p:nvPicPr>
          <p:cNvPr id="15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91925" y="10068641"/>
            <a:ext cx="180685" cy="180685"/>
          </a:xfrm>
          <a:prstGeom prst="rect">
            <a:avLst/>
          </a:prstGeom>
        </p:spPr>
      </p:pic>
      <p:sp>
        <p:nvSpPr>
          <p:cNvPr id="152" name="Text 122"/>
          <p:cNvSpPr/>
          <p:nvPr/>
        </p:nvSpPr>
        <p:spPr>
          <a:xfrm>
            <a:off x="512064" y="10351008"/>
            <a:ext cx="1740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iPerformDB</a:t>
            </a:r>
            <a:endParaRPr lang="en-US" sz="800" dirty="0"/>
          </a:p>
        </p:txBody>
      </p:sp>
      <p:sp>
        <p:nvSpPr>
          <p:cNvPr id="153" name="Text 123"/>
          <p:cNvSpPr/>
          <p:nvPr/>
        </p:nvSpPr>
        <p:spPr>
          <a:xfrm>
            <a:off x="512064" y="10533888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PostgreSQL</a:t>
            </a:r>
            <a:endParaRPr lang="en-US" sz="660" dirty="0"/>
          </a:p>
        </p:txBody>
      </p:sp>
      <p:sp>
        <p:nvSpPr>
          <p:cNvPr id="154" name="Text 124"/>
          <p:cNvSpPr/>
          <p:nvPr/>
        </p:nvSpPr>
        <p:spPr>
          <a:xfrm>
            <a:off x="512064" y="10680192"/>
            <a:ext cx="174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· client · account · portfolio</a:t>
            </a:r>
            <a:endParaRPr lang="en-US" sz="620" dirty="0"/>
          </a:p>
        </p:txBody>
      </p:sp>
      <p:sp>
        <p:nvSpPr>
          <p:cNvPr id="155" name="Shape 125"/>
          <p:cNvSpPr/>
          <p:nvPr/>
        </p:nvSpPr>
        <p:spPr>
          <a:xfrm>
            <a:off x="2353056" y="9893808"/>
            <a:ext cx="18135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17756B"/>
            </a:solidFill>
            <a:prstDash val="solid"/>
          </a:ln>
        </p:spPr>
      </p:sp>
      <p:sp>
        <p:nvSpPr>
          <p:cNvPr id="156" name="Shape 126"/>
          <p:cNvSpPr/>
          <p:nvPr/>
        </p:nvSpPr>
        <p:spPr>
          <a:xfrm>
            <a:off x="3086100" y="9985248"/>
            <a:ext cx="347472" cy="347472"/>
          </a:xfrm>
          <a:prstGeom prst="ellipse">
            <a:avLst/>
          </a:prstGeom>
          <a:solidFill>
            <a:srgbClr val="17756B"/>
          </a:solidFill>
          <a:ln/>
        </p:spPr>
      </p:sp>
      <p:pic>
        <p:nvPicPr>
          <p:cNvPr id="15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69493" y="10068641"/>
            <a:ext cx="180685" cy="180685"/>
          </a:xfrm>
          <a:prstGeom prst="rect">
            <a:avLst/>
          </a:prstGeom>
        </p:spPr>
      </p:pic>
      <p:sp>
        <p:nvSpPr>
          <p:cNvPr id="158" name="Text 127"/>
          <p:cNvSpPr/>
          <p:nvPr/>
        </p:nvSpPr>
        <p:spPr>
          <a:xfrm>
            <a:off x="2389632" y="10351008"/>
            <a:ext cx="1740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FMAT</a:t>
            </a:r>
            <a:endParaRPr lang="en-US" sz="800" dirty="0"/>
          </a:p>
        </p:txBody>
      </p:sp>
      <p:sp>
        <p:nvSpPr>
          <p:cNvPr id="159" name="Text 128"/>
          <p:cNvSpPr/>
          <p:nvPr/>
        </p:nvSpPr>
        <p:spPr>
          <a:xfrm>
            <a:off x="2389632" y="10533888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</a:t>
            </a:r>
            <a:endParaRPr lang="en-US" sz="660" dirty="0"/>
          </a:p>
        </p:txBody>
      </p:sp>
      <p:sp>
        <p:nvSpPr>
          <p:cNvPr id="160" name="Text 129"/>
          <p:cNvSpPr/>
          <p:nvPr/>
        </p:nvSpPr>
        <p:spPr>
          <a:xfrm>
            <a:off x="2389632" y="10680192"/>
            <a:ext cx="174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· scores · insights · NBAs</a:t>
            </a:r>
            <a:endParaRPr lang="en-US" sz="620" dirty="0"/>
          </a:p>
        </p:txBody>
      </p:sp>
      <p:sp>
        <p:nvSpPr>
          <p:cNvPr id="161" name="Shape 130"/>
          <p:cNvSpPr/>
          <p:nvPr/>
        </p:nvSpPr>
        <p:spPr>
          <a:xfrm>
            <a:off x="4230624" y="9893808"/>
            <a:ext cx="18135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17756B"/>
            </a:solidFill>
            <a:prstDash val="solid"/>
          </a:ln>
        </p:spPr>
      </p:sp>
      <p:sp>
        <p:nvSpPr>
          <p:cNvPr id="162" name="Shape 131"/>
          <p:cNvSpPr/>
          <p:nvPr/>
        </p:nvSpPr>
        <p:spPr>
          <a:xfrm>
            <a:off x="4963668" y="9985248"/>
            <a:ext cx="347472" cy="347472"/>
          </a:xfrm>
          <a:prstGeom prst="ellipse">
            <a:avLst/>
          </a:prstGeom>
          <a:solidFill>
            <a:srgbClr val="17756B"/>
          </a:solidFill>
          <a:ln/>
        </p:spPr>
      </p:sp>
      <p:pic>
        <p:nvPicPr>
          <p:cNvPr id="16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47061" y="10068641"/>
            <a:ext cx="180685" cy="180685"/>
          </a:xfrm>
          <a:prstGeom prst="rect">
            <a:avLst/>
          </a:prstGeom>
        </p:spPr>
      </p:pic>
      <p:sp>
        <p:nvSpPr>
          <p:cNvPr id="164" name="Text 132"/>
          <p:cNvSpPr/>
          <p:nvPr/>
        </p:nvSpPr>
        <p:spPr>
          <a:xfrm>
            <a:off x="4267200" y="10351008"/>
            <a:ext cx="1740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Sources</a:t>
            </a:r>
            <a:endParaRPr lang="en-US" sz="800" dirty="0"/>
          </a:p>
        </p:txBody>
      </p:sp>
      <p:sp>
        <p:nvSpPr>
          <p:cNvPr id="165" name="Text 133"/>
          <p:cNvSpPr/>
          <p:nvPr/>
        </p:nvSpPr>
        <p:spPr>
          <a:xfrm>
            <a:off x="4267200" y="10533888"/>
            <a:ext cx="1740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/ Market</a:t>
            </a:r>
            <a:endParaRPr lang="en-US" sz="660" dirty="0"/>
          </a:p>
        </p:txBody>
      </p:sp>
      <p:sp>
        <p:nvSpPr>
          <p:cNvPr id="166" name="Text 134"/>
          <p:cNvSpPr/>
          <p:nvPr/>
        </p:nvSpPr>
        <p:spPr>
          <a:xfrm>
            <a:off x="4267200" y="10680192"/>
            <a:ext cx="1740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&amp; more</a:t>
            </a:r>
            <a:endParaRPr lang="en-US" sz="620" dirty="0"/>
          </a:p>
        </p:txBody>
      </p:sp>
      <p:sp>
        <p:nvSpPr>
          <p:cNvPr id="167" name="Shape 135"/>
          <p:cNvSpPr/>
          <p:nvPr/>
        </p:nvSpPr>
        <p:spPr>
          <a:xfrm>
            <a:off x="6355080" y="9582912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E9EDF5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8" name="Text 136"/>
          <p:cNvSpPr/>
          <p:nvPr/>
        </p:nvSpPr>
        <p:spPr>
          <a:xfrm>
            <a:off x="6464808" y="9656064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API-Only Access  (Not via MCP)</a:t>
            </a:r>
            <a:endParaRPr lang="en-US" sz="850" dirty="0"/>
          </a:p>
        </p:txBody>
      </p:sp>
      <p:sp>
        <p:nvSpPr>
          <p:cNvPr id="169" name="Shape 137"/>
          <p:cNvSpPr/>
          <p:nvPr/>
        </p:nvSpPr>
        <p:spPr>
          <a:xfrm>
            <a:off x="6483096" y="9893808"/>
            <a:ext cx="2624328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70" name="Shape 138"/>
          <p:cNvSpPr/>
          <p:nvPr/>
        </p:nvSpPr>
        <p:spPr>
          <a:xfrm>
            <a:off x="7621524" y="9985248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7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04917" y="10068641"/>
            <a:ext cx="180685" cy="180685"/>
          </a:xfrm>
          <a:prstGeom prst="rect">
            <a:avLst/>
          </a:prstGeom>
        </p:spPr>
      </p:pic>
      <p:sp>
        <p:nvSpPr>
          <p:cNvPr id="172" name="Text 139"/>
          <p:cNvSpPr/>
          <p:nvPr/>
        </p:nvSpPr>
        <p:spPr>
          <a:xfrm>
            <a:off x="6446520" y="1035100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USWM Knowledge Hub</a:t>
            </a:r>
            <a:endParaRPr lang="en-US" sz="850" dirty="0"/>
          </a:p>
        </p:txBody>
      </p:sp>
      <p:sp>
        <p:nvSpPr>
          <p:cNvPr id="173" name="Text 140"/>
          <p:cNvSpPr/>
          <p:nvPr/>
        </p:nvSpPr>
        <p:spPr>
          <a:xfrm>
            <a:off x="6446520" y="1053388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Knowledge</a:t>
            </a:r>
            <a:endParaRPr lang="en-US" sz="680" dirty="0"/>
          </a:p>
        </p:txBody>
      </p:sp>
      <p:sp>
        <p:nvSpPr>
          <p:cNvPr id="174" name="Text 141"/>
          <p:cNvSpPr/>
          <p:nvPr/>
        </p:nvSpPr>
        <p:spPr>
          <a:xfrm>
            <a:off x="6446520" y="106801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 ·   GraphQL API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2026-07-16T19:09:14Z</dcterms:created>
  <dcterms:modified xsi:type="dcterms:W3CDTF">2026-07-16T19:09:14Z</dcterms:modified>
</cp:coreProperties>
</file>